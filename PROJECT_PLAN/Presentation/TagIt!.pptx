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1"/>
  </p:notesMasterIdLst>
  <p:sldIdLst>
    <p:sldId id="256" r:id="rId6"/>
    <p:sldId id="257" r:id="rId7"/>
    <p:sldId id="258" r:id="rId8"/>
    <p:sldId id="259" r:id="rId9"/>
    <p:sldId id="260" r:id="rId10"/>
  </p:sldIdLst>
  <p:sldSz cx="18288000" cy="10287000"/>
  <p:notesSz cx="6858000" cy="9144000"/>
  <p:embeddedFontLst>
    <p:embeddedFont>
      <p:font typeface="Agrandir Bold" charset="1" panose="00000800000000000000"/>
      <p:regular r:id="rId14"/>
    </p:embeddedFont>
    <p:embeddedFont>
      <p:font typeface="Agrandir Medium" charset="1" panose="00000600000000000000"/>
      <p:regular r:id="rId15"/>
    </p:embeddedFont>
    <p:embeddedFont>
      <p:font typeface="Gulfs Display" charset="1" panose="00000500000000000000"/>
      <p:regular r:id="rId16"/>
    </p:embeddedFont>
    <p:embeddedFont>
      <p:font typeface="Noto Sans T Chinese Bold" charset="1" panose="020B0800000000000000"/>
      <p:regular r:id="rId18"/>
    </p:embeddedFont>
    <p:embeddedFont>
      <p:font typeface="Agrandir" charset="1" panose="00000500000000000000"/>
      <p:regular r:id="rId19"/>
    </p:embeddedFont>
    <p:embeddedFont>
      <p:font typeface="Noto Sans T Chinese" charset="1" panose="020B0500000000000000"/>
      <p:regular r:id="rId20"/>
    </p:embeddedFont>
    <p:embeddedFont>
      <p:font typeface="Cre Happiness" charset="1" panose="02000503000000020003"/>
      <p:regular r:id="rId23"/>
    </p:embeddedFont>
    <p:embeddedFont>
      <p:font typeface="M Young PRC Medium"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notesMasters/notesMaster1.xml" Type="http://schemas.openxmlformats.org/officeDocument/2006/relationships/notesMaster"/><Relationship Id="rId12" Target="theme/theme2.xml" Type="http://schemas.openxmlformats.org/officeDocument/2006/relationships/theme"/><Relationship Id="rId13" Target="notesSlides/notesSlide1.xml" Type="http://schemas.openxmlformats.org/officeDocument/2006/relationships/note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notesSlides/notesSlide2.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3.xml" Type="http://schemas.openxmlformats.org/officeDocument/2006/relationships/notesSlide"/><Relationship Id="rId22" Target="notesSlides/notesSlide4.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5.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everyone.</a:t>
            </a:r>
          </a:p>
          <a:p>
            <a:r>
              <a:rPr lang="en-US"/>
              <a:t/>
            </a:r>
          </a:p>
          <a:p>
            <a:r>
              <a:rPr lang="en-US"/>
              <a:t>Our team name is Deco May Cry, which is a clear reference to the video game Devil May Cry, and our project is called TagIt!. The idea behind the name is that, just like tagging a wall with graffiti, our system will let people leave their own playful marks in urban environments — but in a digital and collaborative way.</a:t>
            </a:r>
          </a:p>
          <a:p>
            <a:r>
              <a:rPr lang="en-US"/>
              <a:t/>
            </a:r>
          </a:p>
          <a:p>
            <a:r>
              <a:rPr lang="en-US"/>
              <a:t>We are a group of five students, with mixed backgrounds in IT and Computer Science. While our programs are similar, each of us focuses on different aspects: some are more interested in coding and prototyping, while others lean towards design, user experience, or collaboration.</a:t>
            </a:r>
          </a:p>
          <a:p>
            <a:r>
              <a:rPr lang="en-US"/>
              <a:t/>
            </a:r>
          </a:p>
          <a:p>
            <a:r>
              <a:rPr lang="en-US"/>
              <a:t>As a team, our strengths can be seen in four main areas:</a:t>
            </a:r>
          </a:p>
          <a:p>
            <a:r>
              <a:rPr lang="en-US"/>
              <a:t/>
            </a:r>
          </a:p>
          <a:p>
            <a:r>
              <a:rPr lang="en-US"/>
              <a:t>User Research and Domain Understanding – we want to explore how people interact in public spaces, and we plan to use interviews and observations to build this understanding.</a:t>
            </a:r>
          </a:p>
          <a:p>
            <a:r>
              <a:rPr lang="en-US"/>
              <a:t/>
            </a:r>
          </a:p>
          <a:p>
            <a:r>
              <a:rPr lang="en-US"/>
              <a:t>UI and Visual Design – some members have already worked on visual-oriented projects. This gives us a foundation to explore the style of a digital graffiti system.</a:t>
            </a:r>
          </a:p>
          <a:p>
            <a:r>
              <a:rPr lang="en-US"/>
              <a:t/>
            </a:r>
          </a:p>
          <a:p>
            <a:r>
              <a:rPr lang="en-US"/>
              <a:t>Prototyping and Technical Development – we have the ability to build interactive prototypes and translate ideas into working demos.</a:t>
            </a:r>
          </a:p>
          <a:p>
            <a:r>
              <a:rPr lang="en-US"/>
              <a:t/>
            </a:r>
          </a:p>
          <a:p>
            <a:r>
              <a:rPr lang="en-US"/>
              <a:t>And finally, Team Collaboration and Complementary Skills – even though our studies overlap, our different interests mean we can support each other across design and technical work.</a:t>
            </a:r>
          </a:p>
          <a:p>
            <a:r>
              <a:rPr lang="en-US"/>
              <a:t/>
            </a:r>
          </a:p>
          <a:p>
            <a:r>
              <a:rPr lang="en-US"/>
              <a:t>Overall, we believe our combined skills and interests will allow us to develop a creative and technically sound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domain of our project is Social creation of digital art in public spaces.</a:t>
            </a:r>
          </a:p>
          <a:p>
            <a:r>
              <a:rPr lang="en-US"/>
              <a:t> </a:t>
            </a:r>
          </a:p>
          <a:p>
            <a:r>
              <a:rPr lang="en-US"/>
              <a:t>This involves combining technology and art creation in public areas, so that people can create their artworks together and exchange their ideas around those pieces.</a:t>
            </a:r>
          </a:p>
          <a:p>
            <a:r>
              <a:rPr lang="en-US"/>
              <a:t/>
            </a:r>
          </a:p>
          <a:p>
            <a:r>
              <a:rPr lang="en-US"/>
              <a:t>It encourages diverse community participation, allowing people from different backgrounds to collaborate creatively. It also promotes community engagement and belonging by building stronger bonding in the community. On the other hand, this approach makes graffiti easier to approach, it allows people to experience with art, rather than just obersving it.</a:t>
            </a:r>
          </a:p>
          <a:p>
            <a:r>
              <a:rPr lang="en-US"/>
              <a:t/>
            </a:r>
          </a:p>
          <a:p>
            <a:r>
              <a:rPr lang="en-US"/>
              <a:t>There are serveral challenges we need to address. First, there is limited butget for us to maintain and install the large scale of outdoor hardware. Moreover, it is necessary to address the respect of the local customs and values, so that everyone can feel welcome. Lastly, eye-catching design is essential to attract people to take part in this activity. </a:t>
            </a:r>
          </a:p>
          <a:p>
            <a:r>
              <a:rPr lang="en-US"/>
              <a:t/>
            </a:r>
          </a:p>
          <a:p>
            <a:r>
              <a:rPr lang="en-US"/>
              <a:t>In conclusion, art is a common language of the world, it draws people in and encourages them to interact with one another. Although it requires a high-cost of installations and maintenance, it makes a community much more stronger and more inclusive.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design opportunity is inspired by the paper Engaging Public Spaces: Designing for a Playful Live Community Experience by Hamid and colleagues in 2024</a:t>
            </a:r>
          </a:p>
          <a:p>
            <a:r>
              <a:rPr lang="en-US"/>
              <a:t>.</a:t>
            </a:r>
          </a:p>
          <a:p>
            <a:r>
              <a:rPr lang="en-US"/>
              <a:t/>
            </a:r>
          </a:p>
          <a:p>
            <a:r>
              <a:rPr lang="en-US"/>
              <a:t>The authors highlight the concept of playful placemaking, which uses play and co-design to activate public spaces, foster social interaction, and build community identity. We build on this idea to imagine a new form of digital graffiti.</a:t>
            </a:r>
          </a:p>
          <a:p>
            <a:r>
              <a:rPr lang="en-US"/>
              <a:t/>
            </a:r>
          </a:p>
          <a:p>
            <a:r>
              <a:rPr lang="en-US"/>
              <a:t>In many cities, graffiti is often seen as vandalism, with high costs and legal issues. But people, especially young citizens, still have a strong desire for creativity and expression. What is missing is a safe and accessible platform.</a:t>
            </a:r>
          </a:p>
          <a:p>
            <a:r>
              <a:rPr lang="en-US"/>
              <a:t/>
            </a:r>
          </a:p>
          <a:p>
            <a:r>
              <a:rPr lang="en-US"/>
              <a:t>Our opportunity is to transform graffiti into a digital, playful, and interactive experience. Anyone can create on a public screen or with their phone. The artworks appear in real time, overlap with others, and slowly fade away. This not only recreates the temporary and competitive nature of graffiti, but also makes it legal and sustainable.</a:t>
            </a:r>
          </a:p>
          <a:p>
            <a:r>
              <a:rPr lang="en-US"/>
              <a:t/>
            </a:r>
          </a:p>
          <a:p>
            <a:r>
              <a:rPr lang="en-US"/>
              <a:t>Through this, we see three opportunities: lowering the barrier so everyone can be an artist, enabling instant social interaction between strangers, and strengthening a sense of belonging in the community.</a:t>
            </a:r>
          </a:p>
          <a:p>
            <a:r>
              <a:rPr lang="en-US"/>
              <a:t/>
            </a:r>
          </a:p>
          <a:p>
            <a:r>
              <a:rPr lang="en-US"/>
              <a:t>In short, our design opportunity is to use playful placemaking to transform urban spaces into inclusive and creative platforms where citizens can freely express, interact, and co-create.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for this slide, I want to talk about who our audience is, and what’s already out there.</a:t>
            </a:r>
          </a:p>
          <a:p>
            <a:r>
              <a:rPr lang="en-US"/>
              <a:t/>
            </a:r>
          </a:p>
          <a:p>
            <a:r>
              <a:rPr lang="en-US"/>
              <a:t>We’re mainly designing for three groups: passersby, students, and local residents.</a:t>
            </a:r>
          </a:p>
          <a:p>
            <a:r>
              <a:rPr lang="en-US"/>
              <a:t>For passersby, it’s all about something quick and fun — they’re curious, they don’t stay long, but this gives them a way to instantly leave a mark.</a:t>
            </a:r>
          </a:p>
          <a:p>
            <a:r>
              <a:rPr lang="en-US"/>
              <a:t>For students, the focus is expression and being social. They like creative outlets, so this becomes a playful space to try things and connect with others.</a:t>
            </a:r>
          </a:p>
          <a:p>
            <a:r>
              <a:rPr lang="en-US"/>
              <a:t>And for residents, it’s more about community and belonging. Having the chance to leave something in a shared space helps them feel more connected to where they live.</a:t>
            </a:r>
          </a:p>
          <a:p>
            <a:r>
              <a:rPr lang="en-US"/>
              <a:t/>
            </a:r>
          </a:p>
          <a:p>
            <a:r>
              <a:rPr lang="en-US"/>
              <a:t>Now, if we look at existing attempts, there are some clear problems.</a:t>
            </a:r>
          </a:p>
          <a:p>
            <a:r>
              <a:rPr lang="en-US"/>
              <a:t>Traditional graffiti feels authentic, but it often causes conflict with regulations.</a:t>
            </a:r>
          </a:p>
          <a:p>
            <a:r>
              <a:rPr lang="en-US"/>
              <a:t>Digital installations are cool, but usually they’re just individual interactions, not real collaboration.</a:t>
            </a:r>
          </a:p>
          <a:p>
            <a:r>
              <a:rPr lang="en-US"/>
              <a:t>And public art projects? They can be nice, but most of the time they’re curated, so people don’t really get to participate spontaneously.</a:t>
            </a:r>
          </a:p>
          <a:p>
            <a:r>
              <a:rPr lang="en-US"/>
              <a:t/>
            </a:r>
          </a:p>
          <a:p>
            <a:r>
              <a:rPr lang="en-US"/>
              <a:t>That’s where our system comes in. We bring together the playfulness of graffiti, the social aspect of collaboration, and the creativity of public art. It’s a safe and legitimate way to express yourself, it supports real-time co-creation, and it’s open and inclusive for everyone. Basically, we’re trying to keep the spirit of graffiti alive, but in a way that’s more collaborative and community-driven.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I want to talk about our timeline and what research methods we will use</a:t>
            </a:r>
          </a:p>
          <a:p>
            <a:r>
              <a:rPr lang="en-US"/>
              <a:t/>
            </a:r>
          </a:p>
          <a:p>
            <a:r>
              <a:rPr lang="en-US"/>
              <a:t>Before creating our prototype, we will conduct field observations. In Brisbane, we will look at graffiti—where it usually appears, what it looks like, and, if possible, how people create it.</a:t>
            </a:r>
          </a:p>
          <a:p>
            <a:r>
              <a:rPr lang="en-US"/>
              <a:t/>
            </a:r>
          </a:p>
          <a:p>
            <a:r>
              <a:rPr lang="en-US"/>
              <a:t>After that, we will conduct small-scale interviews to collect data. We plan to talk both with people who have experience in graffiti and with those who have never done it but are interested in the topic. Their feedback will help us refine our project goals.</a:t>
            </a:r>
          </a:p>
          <a:p>
            <a:r>
              <a:rPr lang="en-US"/>
              <a:t/>
            </a:r>
          </a:p>
          <a:p>
            <a:r>
              <a:rPr lang="en-US"/>
              <a:t>Next, we will build a simple low-fidelity prototype using cardboard, and let potential target users experience it. Based on their feedback, we will adjust the direction of our work.</a:t>
            </a:r>
          </a:p>
          <a:p>
            <a:r>
              <a:rPr lang="en-US"/>
              <a:t/>
            </a:r>
          </a:p>
          <a:p>
            <a:r>
              <a:rPr lang="en-US"/>
              <a:t>Finally, we will develop a functional high-fidelity prototype before the week 12. This prototype will implement the core features we planned and serve as the final outcome for our course exhibition.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0.png" Type="http://schemas.openxmlformats.org/officeDocument/2006/relationships/image"/><Relationship Id="rId4" Target="../media/image1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2.jpe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16.png" Type="http://schemas.openxmlformats.org/officeDocument/2006/relationships/image"/><Relationship Id="rId5" Target="../media/image17.jpeg" Type="http://schemas.openxmlformats.org/officeDocument/2006/relationships/image"/><Relationship Id="rId6" Target="../media/image18.jpeg" Type="http://schemas.openxmlformats.org/officeDocument/2006/relationships/image"/><Relationship Id="rId7"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304442" y="-8801660"/>
            <a:ext cx="3679116" cy="19813120"/>
          </a:xfrm>
          <a:custGeom>
            <a:avLst/>
            <a:gdLst/>
            <a:ahLst/>
            <a:cxnLst/>
            <a:rect r="r" b="b" t="t" l="l"/>
            <a:pathLst>
              <a:path h="19813120" w="3679116">
                <a:moveTo>
                  <a:pt x="0" y="0"/>
                </a:moveTo>
                <a:lnTo>
                  <a:pt x="3679116" y="0"/>
                </a:lnTo>
                <a:lnTo>
                  <a:pt x="3679116" y="19813120"/>
                </a:lnTo>
                <a:lnTo>
                  <a:pt x="0" y="19813120"/>
                </a:lnTo>
                <a:lnTo>
                  <a:pt x="0" y="0"/>
                </a:lnTo>
                <a:close/>
              </a:path>
            </a:pathLst>
          </a:custGeom>
          <a:blipFill>
            <a:blip r:embed="rId3"/>
            <a:stretch>
              <a:fillRect l="-111818" t="-9665" r="-190514" b="0"/>
            </a:stretch>
          </a:blipFill>
          <a:ln cap="sq">
            <a:noFill/>
            <a:prstDash val="solid"/>
            <a:miter/>
          </a:ln>
        </p:spPr>
      </p:sp>
      <p:grpSp>
        <p:nvGrpSpPr>
          <p:cNvPr name="Group 3" id="3"/>
          <p:cNvGrpSpPr/>
          <p:nvPr/>
        </p:nvGrpSpPr>
        <p:grpSpPr>
          <a:xfrm rot="0">
            <a:off x="4113640" y="3303621"/>
            <a:ext cx="1335480" cy="1235319"/>
            <a:chOff x="0" y="0"/>
            <a:chExt cx="1780640" cy="1647092"/>
          </a:xfrm>
        </p:grpSpPr>
        <p:pic>
          <p:nvPicPr>
            <p:cNvPr name="Picture 4" id="4"/>
            <p:cNvPicPr>
              <a:picLocks noChangeAspect="true"/>
            </p:cNvPicPr>
            <p:nvPr/>
          </p:nvPicPr>
          <p:blipFill>
            <a:blip r:embed="rId4"/>
            <a:srcRect l="0" t="3749" r="0" b="3750"/>
            <a:stretch>
              <a:fillRect/>
            </a:stretch>
          </p:blipFill>
          <p:spPr>
            <a:xfrm flipH="false" flipV="false">
              <a:off x="0" y="0"/>
              <a:ext cx="1780640" cy="1647092"/>
            </a:xfrm>
            <a:prstGeom prst="rect">
              <a:avLst/>
            </a:prstGeom>
          </p:spPr>
        </p:pic>
      </p:grpSp>
      <p:sp>
        <p:nvSpPr>
          <p:cNvPr name="Freeform 5" id="5"/>
          <p:cNvSpPr/>
          <p:nvPr/>
        </p:nvSpPr>
        <p:spPr>
          <a:xfrm flipH="false" flipV="false" rot="573608">
            <a:off x="3848926" y="3212410"/>
            <a:ext cx="395880" cy="311260"/>
          </a:xfrm>
          <a:custGeom>
            <a:avLst/>
            <a:gdLst/>
            <a:ahLst/>
            <a:cxnLst/>
            <a:rect r="r" b="b" t="t" l="l"/>
            <a:pathLst>
              <a:path h="311260" w="395880">
                <a:moveTo>
                  <a:pt x="0" y="0"/>
                </a:moveTo>
                <a:lnTo>
                  <a:pt x="395879" y="0"/>
                </a:lnTo>
                <a:lnTo>
                  <a:pt x="395879" y="311261"/>
                </a:lnTo>
                <a:lnTo>
                  <a:pt x="0" y="311261"/>
                </a:lnTo>
                <a:lnTo>
                  <a:pt x="0" y="0"/>
                </a:lnTo>
                <a:close/>
              </a:path>
            </a:pathLst>
          </a:custGeom>
          <a:blipFill>
            <a:blip r:embed="rId5"/>
            <a:stretch>
              <a:fillRect l="0" t="0" r="0" b="0"/>
            </a:stretch>
          </a:blipFill>
        </p:spPr>
      </p:sp>
      <p:grpSp>
        <p:nvGrpSpPr>
          <p:cNvPr name="Group 6" id="6"/>
          <p:cNvGrpSpPr/>
          <p:nvPr/>
        </p:nvGrpSpPr>
        <p:grpSpPr>
          <a:xfrm rot="0">
            <a:off x="10312694" y="3303621"/>
            <a:ext cx="1335480" cy="1235319"/>
            <a:chOff x="0" y="0"/>
            <a:chExt cx="1780640" cy="1647092"/>
          </a:xfrm>
        </p:grpSpPr>
        <p:pic>
          <p:nvPicPr>
            <p:cNvPr name="Picture 7" id="7"/>
            <p:cNvPicPr>
              <a:picLocks noChangeAspect="true"/>
            </p:cNvPicPr>
            <p:nvPr/>
          </p:nvPicPr>
          <p:blipFill>
            <a:blip r:embed="rId6"/>
            <a:srcRect l="28935" t="0" r="28935" b="0"/>
            <a:stretch>
              <a:fillRect/>
            </a:stretch>
          </p:blipFill>
          <p:spPr>
            <a:xfrm flipH="false" flipV="false">
              <a:off x="0" y="0"/>
              <a:ext cx="1780640" cy="1647092"/>
            </a:xfrm>
            <a:prstGeom prst="rect">
              <a:avLst/>
            </a:prstGeom>
          </p:spPr>
        </p:pic>
      </p:grpSp>
      <p:sp>
        <p:nvSpPr>
          <p:cNvPr name="Freeform 8" id="8"/>
          <p:cNvSpPr/>
          <p:nvPr/>
        </p:nvSpPr>
        <p:spPr>
          <a:xfrm flipH="false" flipV="false" rot="573608">
            <a:off x="10047980" y="3212410"/>
            <a:ext cx="395880" cy="311260"/>
          </a:xfrm>
          <a:custGeom>
            <a:avLst/>
            <a:gdLst/>
            <a:ahLst/>
            <a:cxnLst/>
            <a:rect r="r" b="b" t="t" l="l"/>
            <a:pathLst>
              <a:path h="311260" w="395880">
                <a:moveTo>
                  <a:pt x="0" y="0"/>
                </a:moveTo>
                <a:lnTo>
                  <a:pt x="395880" y="0"/>
                </a:lnTo>
                <a:lnTo>
                  <a:pt x="395880" y="311261"/>
                </a:lnTo>
                <a:lnTo>
                  <a:pt x="0" y="311261"/>
                </a:lnTo>
                <a:lnTo>
                  <a:pt x="0" y="0"/>
                </a:lnTo>
                <a:close/>
              </a:path>
            </a:pathLst>
          </a:custGeom>
          <a:blipFill>
            <a:blip r:embed="rId5"/>
            <a:stretch>
              <a:fillRect l="0" t="0" r="0" b="0"/>
            </a:stretch>
          </a:blipFill>
        </p:spPr>
      </p:sp>
      <p:grpSp>
        <p:nvGrpSpPr>
          <p:cNvPr name="Group 9" id="9"/>
          <p:cNvGrpSpPr/>
          <p:nvPr/>
        </p:nvGrpSpPr>
        <p:grpSpPr>
          <a:xfrm rot="0">
            <a:off x="16506986" y="3303621"/>
            <a:ext cx="1335480" cy="1235319"/>
            <a:chOff x="0" y="0"/>
            <a:chExt cx="1780640" cy="1647092"/>
          </a:xfrm>
        </p:grpSpPr>
        <p:pic>
          <p:nvPicPr>
            <p:cNvPr name="Picture 10" id="10"/>
            <p:cNvPicPr>
              <a:picLocks noChangeAspect="true"/>
            </p:cNvPicPr>
            <p:nvPr/>
          </p:nvPicPr>
          <p:blipFill>
            <a:blip r:embed="rId6"/>
            <a:srcRect l="28935" t="0" r="28935" b="0"/>
            <a:stretch>
              <a:fillRect/>
            </a:stretch>
          </p:blipFill>
          <p:spPr>
            <a:xfrm flipH="false" flipV="false">
              <a:off x="0" y="0"/>
              <a:ext cx="1780640" cy="1647092"/>
            </a:xfrm>
            <a:prstGeom prst="rect">
              <a:avLst/>
            </a:prstGeom>
          </p:spPr>
        </p:pic>
      </p:grpSp>
      <p:sp>
        <p:nvSpPr>
          <p:cNvPr name="Freeform 11" id="11"/>
          <p:cNvSpPr/>
          <p:nvPr/>
        </p:nvSpPr>
        <p:spPr>
          <a:xfrm flipH="false" flipV="false" rot="573608">
            <a:off x="16243273" y="3212410"/>
            <a:ext cx="395880" cy="311260"/>
          </a:xfrm>
          <a:custGeom>
            <a:avLst/>
            <a:gdLst/>
            <a:ahLst/>
            <a:cxnLst/>
            <a:rect r="r" b="b" t="t" l="l"/>
            <a:pathLst>
              <a:path h="311260" w="395880">
                <a:moveTo>
                  <a:pt x="0" y="0"/>
                </a:moveTo>
                <a:lnTo>
                  <a:pt x="395880" y="0"/>
                </a:lnTo>
                <a:lnTo>
                  <a:pt x="395880" y="311261"/>
                </a:lnTo>
                <a:lnTo>
                  <a:pt x="0" y="311261"/>
                </a:lnTo>
                <a:lnTo>
                  <a:pt x="0" y="0"/>
                </a:lnTo>
                <a:close/>
              </a:path>
            </a:pathLst>
          </a:custGeom>
          <a:blipFill>
            <a:blip r:embed="rId5"/>
            <a:stretch>
              <a:fillRect l="0" t="0" r="0" b="0"/>
            </a:stretch>
          </a:blipFill>
        </p:spPr>
      </p:sp>
      <p:grpSp>
        <p:nvGrpSpPr>
          <p:cNvPr name="Group 12" id="12"/>
          <p:cNvGrpSpPr/>
          <p:nvPr/>
        </p:nvGrpSpPr>
        <p:grpSpPr>
          <a:xfrm rot="0">
            <a:off x="6608370" y="5155304"/>
            <a:ext cx="1335480" cy="1235319"/>
            <a:chOff x="0" y="0"/>
            <a:chExt cx="1780640" cy="1647092"/>
          </a:xfrm>
        </p:grpSpPr>
        <p:pic>
          <p:nvPicPr>
            <p:cNvPr name="Picture 13" id="13"/>
            <p:cNvPicPr>
              <a:picLocks noChangeAspect="true"/>
            </p:cNvPicPr>
            <p:nvPr/>
          </p:nvPicPr>
          <p:blipFill>
            <a:blip r:embed="rId7"/>
            <a:srcRect l="0" t="3750" r="0" b="3750"/>
            <a:stretch>
              <a:fillRect/>
            </a:stretch>
          </p:blipFill>
          <p:spPr>
            <a:xfrm flipH="false" flipV="false">
              <a:off x="0" y="0"/>
              <a:ext cx="1780640" cy="1647092"/>
            </a:xfrm>
            <a:prstGeom prst="rect">
              <a:avLst/>
            </a:prstGeom>
          </p:spPr>
        </p:pic>
      </p:grpSp>
      <p:sp>
        <p:nvSpPr>
          <p:cNvPr name="Freeform 14" id="14"/>
          <p:cNvSpPr/>
          <p:nvPr/>
        </p:nvSpPr>
        <p:spPr>
          <a:xfrm flipH="false" flipV="false" rot="573608">
            <a:off x="6343656" y="5064093"/>
            <a:ext cx="395880" cy="311260"/>
          </a:xfrm>
          <a:custGeom>
            <a:avLst/>
            <a:gdLst/>
            <a:ahLst/>
            <a:cxnLst/>
            <a:rect r="r" b="b" t="t" l="l"/>
            <a:pathLst>
              <a:path h="311260" w="395880">
                <a:moveTo>
                  <a:pt x="0" y="0"/>
                </a:moveTo>
                <a:lnTo>
                  <a:pt x="395880" y="0"/>
                </a:lnTo>
                <a:lnTo>
                  <a:pt x="395880" y="311260"/>
                </a:lnTo>
                <a:lnTo>
                  <a:pt x="0" y="311260"/>
                </a:lnTo>
                <a:lnTo>
                  <a:pt x="0" y="0"/>
                </a:lnTo>
                <a:close/>
              </a:path>
            </a:pathLst>
          </a:custGeom>
          <a:blipFill>
            <a:blip r:embed="rId5"/>
            <a:stretch>
              <a:fillRect l="0" t="0" r="0" b="0"/>
            </a:stretch>
          </a:blipFill>
        </p:spPr>
      </p:sp>
      <p:grpSp>
        <p:nvGrpSpPr>
          <p:cNvPr name="Group 15" id="15"/>
          <p:cNvGrpSpPr/>
          <p:nvPr/>
        </p:nvGrpSpPr>
        <p:grpSpPr>
          <a:xfrm rot="0">
            <a:off x="13357256" y="5195051"/>
            <a:ext cx="1335480" cy="1235319"/>
            <a:chOff x="0" y="0"/>
            <a:chExt cx="1780640" cy="1647092"/>
          </a:xfrm>
        </p:grpSpPr>
        <p:pic>
          <p:nvPicPr>
            <p:cNvPr name="Picture 16" id="16"/>
            <p:cNvPicPr>
              <a:picLocks noChangeAspect="true"/>
            </p:cNvPicPr>
            <p:nvPr/>
          </p:nvPicPr>
          <p:blipFill>
            <a:blip r:embed="rId8"/>
            <a:srcRect l="0" t="3750" r="0" b="3750"/>
            <a:stretch>
              <a:fillRect/>
            </a:stretch>
          </p:blipFill>
          <p:spPr>
            <a:xfrm flipH="false" flipV="false">
              <a:off x="0" y="0"/>
              <a:ext cx="1780640" cy="1647092"/>
            </a:xfrm>
            <a:prstGeom prst="rect">
              <a:avLst/>
            </a:prstGeom>
          </p:spPr>
        </p:pic>
      </p:grpSp>
      <p:sp>
        <p:nvSpPr>
          <p:cNvPr name="Freeform 17" id="17"/>
          <p:cNvSpPr/>
          <p:nvPr/>
        </p:nvSpPr>
        <p:spPr>
          <a:xfrm flipH="false" flipV="false" rot="573608">
            <a:off x="13092542" y="5103839"/>
            <a:ext cx="395880" cy="311260"/>
          </a:xfrm>
          <a:custGeom>
            <a:avLst/>
            <a:gdLst/>
            <a:ahLst/>
            <a:cxnLst/>
            <a:rect r="r" b="b" t="t" l="l"/>
            <a:pathLst>
              <a:path h="311260" w="395880">
                <a:moveTo>
                  <a:pt x="0" y="0"/>
                </a:moveTo>
                <a:lnTo>
                  <a:pt x="395879" y="0"/>
                </a:lnTo>
                <a:lnTo>
                  <a:pt x="395879" y="311261"/>
                </a:lnTo>
                <a:lnTo>
                  <a:pt x="0" y="311261"/>
                </a:lnTo>
                <a:lnTo>
                  <a:pt x="0" y="0"/>
                </a:lnTo>
                <a:close/>
              </a:path>
            </a:pathLst>
          </a:custGeom>
          <a:blipFill>
            <a:blip r:embed="rId5"/>
            <a:stretch>
              <a:fillRect l="0" t="0" r="0" b="0"/>
            </a:stretch>
          </a:blipFill>
        </p:spPr>
      </p:sp>
      <p:sp>
        <p:nvSpPr>
          <p:cNvPr name="TextBox 18" id="18"/>
          <p:cNvSpPr txBox="true"/>
          <p:nvPr/>
        </p:nvSpPr>
        <p:spPr>
          <a:xfrm rot="0">
            <a:off x="496176" y="7118709"/>
            <a:ext cx="5157407" cy="624840"/>
          </a:xfrm>
          <a:prstGeom prst="rect">
            <a:avLst/>
          </a:prstGeom>
        </p:spPr>
        <p:txBody>
          <a:bodyPr anchor="t" rtlCol="false" tIns="0" lIns="0" bIns="0" rIns="0">
            <a:spAutoFit/>
          </a:bodyPr>
          <a:lstStyle/>
          <a:p>
            <a:pPr algn="l" marL="0" indent="0" lvl="1">
              <a:lnSpc>
                <a:spcPts val="4289"/>
              </a:lnSpc>
              <a:spcBef>
                <a:spcPct val="0"/>
              </a:spcBef>
            </a:pPr>
            <a:r>
              <a:rPr lang="en-US" b="true" sz="3299">
                <a:solidFill>
                  <a:srgbClr val="00337D"/>
                </a:solidFill>
                <a:latin typeface="Agrandir Bold"/>
                <a:ea typeface="Agrandir Bold"/>
                <a:cs typeface="Agrandir Bold"/>
                <a:sym typeface="Agrandir Bold"/>
              </a:rPr>
              <a:t>OUR STRENGTHS</a:t>
            </a:r>
          </a:p>
        </p:txBody>
      </p:sp>
      <p:sp>
        <p:nvSpPr>
          <p:cNvPr name="Freeform 19" id="19"/>
          <p:cNvSpPr/>
          <p:nvPr/>
        </p:nvSpPr>
        <p:spPr>
          <a:xfrm flipH="false" flipV="false" rot="0">
            <a:off x="5036445" y="7239995"/>
            <a:ext cx="524404" cy="567690"/>
          </a:xfrm>
          <a:custGeom>
            <a:avLst/>
            <a:gdLst/>
            <a:ahLst/>
            <a:cxnLst/>
            <a:rect r="r" b="b" t="t" l="l"/>
            <a:pathLst>
              <a:path h="567690" w="524404">
                <a:moveTo>
                  <a:pt x="0" y="0"/>
                </a:moveTo>
                <a:lnTo>
                  <a:pt x="524404" y="0"/>
                </a:lnTo>
                <a:lnTo>
                  <a:pt x="524404" y="567690"/>
                </a:lnTo>
                <a:lnTo>
                  <a:pt x="0" y="567690"/>
                </a:lnTo>
                <a:lnTo>
                  <a:pt x="0" y="0"/>
                </a:lnTo>
                <a:close/>
              </a:path>
            </a:pathLst>
          </a:custGeom>
          <a:blipFill>
            <a:blip r:embed="rId9"/>
            <a:stretch>
              <a:fillRect l="0" t="0" r="0" b="0"/>
            </a:stretch>
          </a:blipFill>
        </p:spPr>
      </p:sp>
      <p:sp>
        <p:nvSpPr>
          <p:cNvPr name="Freeform 20" id="20"/>
          <p:cNvSpPr/>
          <p:nvPr/>
        </p:nvSpPr>
        <p:spPr>
          <a:xfrm flipH="false" flipV="false" rot="0">
            <a:off x="5036445" y="8675729"/>
            <a:ext cx="524404" cy="567690"/>
          </a:xfrm>
          <a:custGeom>
            <a:avLst/>
            <a:gdLst/>
            <a:ahLst/>
            <a:cxnLst/>
            <a:rect r="r" b="b" t="t" l="l"/>
            <a:pathLst>
              <a:path h="567690" w="524404">
                <a:moveTo>
                  <a:pt x="0" y="0"/>
                </a:moveTo>
                <a:lnTo>
                  <a:pt x="524404" y="0"/>
                </a:lnTo>
                <a:lnTo>
                  <a:pt x="524404" y="567690"/>
                </a:lnTo>
                <a:lnTo>
                  <a:pt x="0" y="567690"/>
                </a:lnTo>
                <a:lnTo>
                  <a:pt x="0" y="0"/>
                </a:lnTo>
                <a:close/>
              </a:path>
            </a:pathLst>
          </a:custGeom>
          <a:blipFill>
            <a:blip r:embed="rId9"/>
            <a:stretch>
              <a:fillRect l="0" t="0" r="0" b="0"/>
            </a:stretch>
          </a:blipFill>
        </p:spPr>
      </p:sp>
      <p:sp>
        <p:nvSpPr>
          <p:cNvPr name="Freeform 21" id="21"/>
          <p:cNvSpPr/>
          <p:nvPr/>
        </p:nvSpPr>
        <p:spPr>
          <a:xfrm flipH="false" flipV="false" rot="0">
            <a:off x="11356511" y="7239995"/>
            <a:ext cx="524404" cy="567690"/>
          </a:xfrm>
          <a:custGeom>
            <a:avLst/>
            <a:gdLst/>
            <a:ahLst/>
            <a:cxnLst/>
            <a:rect r="r" b="b" t="t" l="l"/>
            <a:pathLst>
              <a:path h="567690" w="524404">
                <a:moveTo>
                  <a:pt x="0" y="0"/>
                </a:moveTo>
                <a:lnTo>
                  <a:pt x="524403" y="0"/>
                </a:lnTo>
                <a:lnTo>
                  <a:pt x="524403" y="567690"/>
                </a:lnTo>
                <a:lnTo>
                  <a:pt x="0" y="567690"/>
                </a:lnTo>
                <a:lnTo>
                  <a:pt x="0" y="0"/>
                </a:lnTo>
                <a:close/>
              </a:path>
            </a:pathLst>
          </a:custGeom>
          <a:blipFill>
            <a:blip r:embed="rId9"/>
            <a:stretch>
              <a:fillRect l="0" t="0" r="0" b="0"/>
            </a:stretch>
          </a:blipFill>
        </p:spPr>
      </p:sp>
      <p:sp>
        <p:nvSpPr>
          <p:cNvPr name="Freeform 22" id="22"/>
          <p:cNvSpPr/>
          <p:nvPr/>
        </p:nvSpPr>
        <p:spPr>
          <a:xfrm flipH="false" flipV="false" rot="0">
            <a:off x="11356511" y="8675729"/>
            <a:ext cx="524404" cy="567690"/>
          </a:xfrm>
          <a:custGeom>
            <a:avLst/>
            <a:gdLst/>
            <a:ahLst/>
            <a:cxnLst/>
            <a:rect r="r" b="b" t="t" l="l"/>
            <a:pathLst>
              <a:path h="567690" w="524404">
                <a:moveTo>
                  <a:pt x="0" y="0"/>
                </a:moveTo>
                <a:lnTo>
                  <a:pt x="524403" y="0"/>
                </a:lnTo>
                <a:lnTo>
                  <a:pt x="524403" y="567690"/>
                </a:lnTo>
                <a:lnTo>
                  <a:pt x="0" y="567690"/>
                </a:lnTo>
                <a:lnTo>
                  <a:pt x="0" y="0"/>
                </a:lnTo>
                <a:close/>
              </a:path>
            </a:pathLst>
          </a:custGeom>
          <a:blipFill>
            <a:blip r:embed="rId9"/>
            <a:stretch>
              <a:fillRect l="0" t="0" r="0" b="0"/>
            </a:stretch>
          </a:blipFill>
        </p:spPr>
      </p:sp>
      <p:sp>
        <p:nvSpPr>
          <p:cNvPr name="TextBox 23" id="23"/>
          <p:cNvSpPr txBox="true"/>
          <p:nvPr/>
        </p:nvSpPr>
        <p:spPr>
          <a:xfrm rot="0">
            <a:off x="5836789" y="7125695"/>
            <a:ext cx="5360830" cy="1121410"/>
          </a:xfrm>
          <a:prstGeom prst="rect">
            <a:avLst/>
          </a:prstGeom>
        </p:spPr>
        <p:txBody>
          <a:bodyPr anchor="t" rtlCol="false" tIns="0" lIns="0" bIns="0" rIns="0">
            <a:spAutoFit/>
          </a:bodyPr>
          <a:lstStyle/>
          <a:p>
            <a:pPr algn="l" marL="0" indent="0" lvl="1">
              <a:lnSpc>
                <a:spcPts val="4160"/>
              </a:lnSpc>
              <a:spcBef>
                <a:spcPct val="0"/>
              </a:spcBef>
            </a:pPr>
            <a:r>
              <a:rPr lang="en-US" b="true" sz="3200">
                <a:solidFill>
                  <a:srgbClr val="00337D"/>
                </a:solidFill>
                <a:latin typeface="Agrandir Medium"/>
                <a:ea typeface="Agrandir Medium"/>
                <a:cs typeface="Agrandir Medium"/>
                <a:sym typeface="Agrandir Medium"/>
              </a:rPr>
              <a:t>User Research &amp; Domain Understanding</a:t>
            </a:r>
          </a:p>
        </p:txBody>
      </p:sp>
      <p:sp>
        <p:nvSpPr>
          <p:cNvPr name="TextBox 24" id="24"/>
          <p:cNvSpPr txBox="true"/>
          <p:nvPr/>
        </p:nvSpPr>
        <p:spPr>
          <a:xfrm rot="0">
            <a:off x="5836789" y="8561429"/>
            <a:ext cx="5360830" cy="1121410"/>
          </a:xfrm>
          <a:prstGeom prst="rect">
            <a:avLst/>
          </a:prstGeom>
        </p:spPr>
        <p:txBody>
          <a:bodyPr anchor="t" rtlCol="false" tIns="0" lIns="0" bIns="0" rIns="0">
            <a:spAutoFit/>
          </a:bodyPr>
          <a:lstStyle/>
          <a:p>
            <a:pPr algn="l" marL="0" indent="0" lvl="1">
              <a:lnSpc>
                <a:spcPts val="4160"/>
              </a:lnSpc>
              <a:spcBef>
                <a:spcPct val="0"/>
              </a:spcBef>
            </a:pPr>
            <a:r>
              <a:rPr lang="en-US" b="true" sz="3200">
                <a:solidFill>
                  <a:srgbClr val="00337D"/>
                </a:solidFill>
                <a:latin typeface="Agrandir Medium"/>
                <a:ea typeface="Agrandir Medium"/>
                <a:cs typeface="Agrandir Medium"/>
                <a:sym typeface="Agrandir Medium"/>
              </a:rPr>
              <a:t>Prototyping &amp; Technical Development</a:t>
            </a:r>
          </a:p>
        </p:txBody>
      </p:sp>
      <p:grpSp>
        <p:nvGrpSpPr>
          <p:cNvPr name="Group 25" id="25"/>
          <p:cNvGrpSpPr/>
          <p:nvPr/>
        </p:nvGrpSpPr>
        <p:grpSpPr>
          <a:xfrm rot="0">
            <a:off x="450135" y="3242659"/>
            <a:ext cx="3653980" cy="1896536"/>
            <a:chOff x="0" y="0"/>
            <a:chExt cx="4871973" cy="2528715"/>
          </a:xfrm>
        </p:grpSpPr>
        <p:sp>
          <p:nvSpPr>
            <p:cNvPr name="TextBox 26" id="26"/>
            <p:cNvSpPr txBox="true"/>
            <p:nvPr/>
          </p:nvSpPr>
          <p:spPr>
            <a:xfrm rot="0">
              <a:off x="0" y="1107455"/>
              <a:ext cx="4871973" cy="1421260"/>
            </a:xfrm>
            <a:prstGeom prst="rect">
              <a:avLst/>
            </a:prstGeom>
          </p:spPr>
          <p:txBody>
            <a:bodyPr anchor="t" rtlCol="false" tIns="0" lIns="0" bIns="0" rIns="0">
              <a:spAutoFit/>
            </a:bodyPr>
            <a:lstStyle/>
            <a:p>
              <a:pPr algn="l" marL="0" indent="0" lvl="1">
                <a:lnSpc>
                  <a:spcPts val="2768"/>
                </a:lnSpc>
                <a:spcBef>
                  <a:spcPct val="0"/>
                </a:spcBef>
              </a:pPr>
              <a:r>
                <a:rPr lang="en-US" b="true" sz="2129">
                  <a:solidFill>
                    <a:srgbClr val="00337D"/>
                  </a:solidFill>
                  <a:latin typeface="Agrandir Bold"/>
                  <a:ea typeface="Agrandir Bold"/>
                  <a:cs typeface="Agrandir Bold"/>
                  <a:sym typeface="Agrandir Bold"/>
                </a:rPr>
                <a:t>Responsible for communication and interviews</a:t>
              </a:r>
            </a:p>
          </p:txBody>
        </p:sp>
        <p:sp>
          <p:nvSpPr>
            <p:cNvPr name="TextBox 27" id="27"/>
            <p:cNvSpPr txBox="true"/>
            <p:nvPr/>
          </p:nvSpPr>
          <p:spPr>
            <a:xfrm rot="0">
              <a:off x="0" y="38100"/>
              <a:ext cx="4871973" cy="887085"/>
            </a:xfrm>
            <a:prstGeom prst="rect">
              <a:avLst/>
            </a:prstGeom>
          </p:spPr>
          <p:txBody>
            <a:bodyPr anchor="t" rtlCol="false" tIns="0" lIns="0" bIns="0" rIns="0">
              <a:spAutoFit/>
            </a:bodyPr>
            <a:lstStyle/>
            <a:p>
              <a:pPr algn="l" marL="0" indent="0" lvl="0">
                <a:lnSpc>
                  <a:spcPts val="5024"/>
                </a:lnSpc>
                <a:spcBef>
                  <a:spcPct val="0"/>
                </a:spcBef>
              </a:pPr>
              <a:r>
                <a:rPr lang="en-US" sz="4567">
                  <a:solidFill>
                    <a:srgbClr val="00337D"/>
                  </a:solidFill>
                  <a:latin typeface="Gulfs Display"/>
                  <a:ea typeface="Gulfs Display"/>
                  <a:cs typeface="Gulfs Display"/>
                  <a:sym typeface="Gulfs Display"/>
                </a:rPr>
                <a:t>Caesar</a:t>
              </a:r>
            </a:p>
          </p:txBody>
        </p:sp>
      </p:grpSp>
      <p:sp>
        <p:nvSpPr>
          <p:cNvPr name="TextBox 28" id="28"/>
          <p:cNvSpPr txBox="true"/>
          <p:nvPr/>
        </p:nvSpPr>
        <p:spPr>
          <a:xfrm rot="0">
            <a:off x="1028700" y="774055"/>
            <a:ext cx="16230600" cy="1368423"/>
          </a:xfrm>
          <a:prstGeom prst="rect">
            <a:avLst/>
          </a:prstGeom>
        </p:spPr>
        <p:txBody>
          <a:bodyPr anchor="t" rtlCol="false" tIns="0" lIns="0" bIns="0" rIns="0">
            <a:spAutoFit/>
          </a:bodyPr>
          <a:lstStyle/>
          <a:p>
            <a:pPr algn="ctr" marL="0" indent="0" lvl="0">
              <a:lnSpc>
                <a:spcPts val="10449"/>
              </a:lnSpc>
              <a:spcBef>
                <a:spcPct val="0"/>
              </a:spcBef>
            </a:pPr>
            <a:r>
              <a:rPr lang="en-US" sz="9499">
                <a:solidFill>
                  <a:srgbClr val="FFFFFF"/>
                </a:solidFill>
                <a:latin typeface="Gulfs Display"/>
                <a:ea typeface="Gulfs Display"/>
                <a:cs typeface="Gulfs Display"/>
                <a:sym typeface="Gulfs Display"/>
              </a:rPr>
              <a:t>TagIt! </a:t>
            </a:r>
          </a:p>
        </p:txBody>
      </p:sp>
      <p:sp>
        <p:nvSpPr>
          <p:cNvPr name="TextBox 29" id="29"/>
          <p:cNvSpPr txBox="true"/>
          <p:nvPr/>
        </p:nvSpPr>
        <p:spPr>
          <a:xfrm rot="0">
            <a:off x="10121159" y="2018653"/>
            <a:ext cx="5157407" cy="624840"/>
          </a:xfrm>
          <a:prstGeom prst="rect">
            <a:avLst/>
          </a:prstGeom>
        </p:spPr>
        <p:txBody>
          <a:bodyPr anchor="t" rtlCol="false" tIns="0" lIns="0" bIns="0" rIns="0">
            <a:spAutoFit/>
          </a:bodyPr>
          <a:lstStyle/>
          <a:p>
            <a:pPr algn="l" marL="0" indent="0" lvl="1">
              <a:lnSpc>
                <a:spcPts val="4289"/>
              </a:lnSpc>
              <a:spcBef>
                <a:spcPct val="0"/>
              </a:spcBef>
            </a:pPr>
            <a:r>
              <a:rPr lang="en-US" b="true" sz="3299">
                <a:solidFill>
                  <a:srgbClr val="00337D"/>
                </a:solidFill>
                <a:latin typeface="Agrandir Bold"/>
                <a:ea typeface="Agrandir Bold"/>
                <a:cs typeface="Agrandir Bold"/>
                <a:sym typeface="Agrandir Bold"/>
              </a:rPr>
              <a:t>DECO MAY CRY</a:t>
            </a:r>
          </a:p>
        </p:txBody>
      </p:sp>
      <p:grpSp>
        <p:nvGrpSpPr>
          <p:cNvPr name="Group 30" id="30"/>
          <p:cNvGrpSpPr/>
          <p:nvPr/>
        </p:nvGrpSpPr>
        <p:grpSpPr>
          <a:xfrm rot="0">
            <a:off x="6653952" y="3242659"/>
            <a:ext cx="3653980" cy="1553636"/>
            <a:chOff x="0" y="0"/>
            <a:chExt cx="4871973" cy="2071515"/>
          </a:xfrm>
        </p:grpSpPr>
        <p:sp>
          <p:nvSpPr>
            <p:cNvPr name="TextBox 31" id="31"/>
            <p:cNvSpPr txBox="true"/>
            <p:nvPr/>
          </p:nvSpPr>
          <p:spPr>
            <a:xfrm rot="0">
              <a:off x="0" y="1107455"/>
              <a:ext cx="4871973" cy="964060"/>
            </a:xfrm>
            <a:prstGeom prst="rect">
              <a:avLst/>
            </a:prstGeom>
          </p:spPr>
          <p:txBody>
            <a:bodyPr anchor="t" rtlCol="false" tIns="0" lIns="0" bIns="0" rIns="0">
              <a:spAutoFit/>
            </a:bodyPr>
            <a:lstStyle/>
            <a:p>
              <a:pPr algn="l" marL="0" indent="0" lvl="1">
                <a:lnSpc>
                  <a:spcPts val="2768"/>
                </a:lnSpc>
                <a:spcBef>
                  <a:spcPct val="0"/>
                </a:spcBef>
              </a:pPr>
              <a:r>
                <a:rPr lang="en-US" b="true" sz="2129">
                  <a:solidFill>
                    <a:srgbClr val="00337D"/>
                  </a:solidFill>
                  <a:latin typeface="Agrandir Bold"/>
                  <a:ea typeface="Agrandir Bold"/>
                  <a:cs typeface="Agrandir Bold"/>
                  <a:sym typeface="Agrandir Bold"/>
                </a:rPr>
                <a:t>Responsible for prototype building</a:t>
              </a:r>
            </a:p>
          </p:txBody>
        </p:sp>
        <p:sp>
          <p:nvSpPr>
            <p:cNvPr name="TextBox 32" id="32"/>
            <p:cNvSpPr txBox="true"/>
            <p:nvPr/>
          </p:nvSpPr>
          <p:spPr>
            <a:xfrm rot="0">
              <a:off x="0" y="38100"/>
              <a:ext cx="4871973" cy="887085"/>
            </a:xfrm>
            <a:prstGeom prst="rect">
              <a:avLst/>
            </a:prstGeom>
          </p:spPr>
          <p:txBody>
            <a:bodyPr anchor="t" rtlCol="false" tIns="0" lIns="0" bIns="0" rIns="0">
              <a:spAutoFit/>
            </a:bodyPr>
            <a:lstStyle/>
            <a:p>
              <a:pPr algn="l" marL="0" indent="0" lvl="0">
                <a:lnSpc>
                  <a:spcPts val="5024"/>
                </a:lnSpc>
                <a:spcBef>
                  <a:spcPct val="0"/>
                </a:spcBef>
              </a:pPr>
              <a:r>
                <a:rPr lang="en-US" sz="4567">
                  <a:solidFill>
                    <a:srgbClr val="00337D"/>
                  </a:solidFill>
                  <a:latin typeface="Gulfs Display"/>
                  <a:ea typeface="Gulfs Display"/>
                  <a:cs typeface="Gulfs Display"/>
                  <a:sym typeface="Gulfs Display"/>
                </a:rPr>
                <a:t>Henry Lee</a:t>
              </a:r>
            </a:p>
          </p:txBody>
        </p:sp>
      </p:grpSp>
      <p:sp>
        <p:nvSpPr>
          <p:cNvPr name="TextBox 33" id="33"/>
          <p:cNvSpPr txBox="true"/>
          <p:nvPr/>
        </p:nvSpPr>
        <p:spPr>
          <a:xfrm rot="0">
            <a:off x="12853007" y="4314884"/>
            <a:ext cx="3653980" cy="478116"/>
          </a:xfrm>
          <a:prstGeom prst="rect">
            <a:avLst/>
          </a:prstGeom>
        </p:spPr>
        <p:txBody>
          <a:bodyPr anchor="t" rtlCol="false" tIns="0" lIns="0" bIns="0" rIns="0">
            <a:spAutoFit/>
          </a:bodyPr>
          <a:lstStyle/>
          <a:p>
            <a:pPr algn="l" marL="0" indent="0" lvl="1">
              <a:lnSpc>
                <a:spcPts val="3288"/>
              </a:lnSpc>
              <a:spcBef>
                <a:spcPct val="0"/>
              </a:spcBef>
            </a:pPr>
          </a:p>
        </p:txBody>
      </p:sp>
      <p:grpSp>
        <p:nvGrpSpPr>
          <p:cNvPr name="Group 34" id="34"/>
          <p:cNvGrpSpPr/>
          <p:nvPr/>
        </p:nvGrpSpPr>
        <p:grpSpPr>
          <a:xfrm rot="0">
            <a:off x="2800296" y="5143500"/>
            <a:ext cx="3848974" cy="1519795"/>
            <a:chOff x="0" y="0"/>
            <a:chExt cx="5131965" cy="2026394"/>
          </a:xfrm>
        </p:grpSpPr>
        <p:sp>
          <p:nvSpPr>
            <p:cNvPr name="TextBox 35" id="35"/>
            <p:cNvSpPr txBox="true"/>
            <p:nvPr/>
          </p:nvSpPr>
          <p:spPr>
            <a:xfrm rot="0">
              <a:off x="0" y="1081466"/>
              <a:ext cx="5131965" cy="944928"/>
            </a:xfrm>
            <a:prstGeom prst="rect">
              <a:avLst/>
            </a:prstGeom>
          </p:spPr>
          <p:txBody>
            <a:bodyPr anchor="t" rtlCol="false" tIns="0" lIns="0" bIns="0" rIns="0">
              <a:spAutoFit/>
            </a:bodyPr>
            <a:lstStyle/>
            <a:p>
              <a:pPr algn="l" marL="0" indent="0" lvl="1">
                <a:lnSpc>
                  <a:spcPts val="2708"/>
                </a:lnSpc>
                <a:spcBef>
                  <a:spcPct val="0"/>
                </a:spcBef>
              </a:pPr>
              <a:r>
                <a:rPr lang="en-US" b="true" sz="2083">
                  <a:solidFill>
                    <a:srgbClr val="00337D"/>
                  </a:solidFill>
                  <a:latin typeface="Agrandir Bold"/>
                  <a:ea typeface="Agrandir Bold"/>
                  <a:cs typeface="Agrandir Bold"/>
                  <a:sym typeface="Agrandir Bold"/>
                </a:rPr>
                <a:t>Focus on literature research and documental work</a:t>
              </a:r>
            </a:p>
          </p:txBody>
        </p:sp>
        <p:sp>
          <p:nvSpPr>
            <p:cNvPr name="TextBox 36" id="36"/>
            <p:cNvSpPr txBox="true"/>
            <p:nvPr/>
          </p:nvSpPr>
          <p:spPr>
            <a:xfrm rot="0">
              <a:off x="0" y="28575"/>
              <a:ext cx="5131965" cy="876458"/>
            </a:xfrm>
            <a:prstGeom prst="rect">
              <a:avLst/>
            </a:prstGeom>
          </p:spPr>
          <p:txBody>
            <a:bodyPr anchor="t" rtlCol="false" tIns="0" lIns="0" bIns="0" rIns="0">
              <a:spAutoFit/>
            </a:bodyPr>
            <a:lstStyle/>
            <a:p>
              <a:pPr algn="l" marL="0" indent="0" lvl="0">
                <a:lnSpc>
                  <a:spcPts val="4915"/>
                </a:lnSpc>
                <a:spcBef>
                  <a:spcPct val="0"/>
                </a:spcBef>
              </a:pPr>
              <a:r>
                <a:rPr lang="en-US" sz="4468">
                  <a:solidFill>
                    <a:srgbClr val="00337D"/>
                  </a:solidFill>
                  <a:latin typeface="Gulfs Display"/>
                  <a:ea typeface="Gulfs Display"/>
                  <a:cs typeface="Gulfs Display"/>
                  <a:sym typeface="Gulfs Display"/>
                </a:rPr>
                <a:t>Eden Liang</a:t>
              </a:r>
            </a:p>
          </p:txBody>
        </p:sp>
      </p:grpSp>
      <p:grpSp>
        <p:nvGrpSpPr>
          <p:cNvPr name="Group 37" id="37"/>
          <p:cNvGrpSpPr/>
          <p:nvPr/>
        </p:nvGrpSpPr>
        <p:grpSpPr>
          <a:xfrm rot="0">
            <a:off x="9703276" y="5152619"/>
            <a:ext cx="3653980" cy="1553636"/>
            <a:chOff x="0" y="0"/>
            <a:chExt cx="4871973" cy="2071515"/>
          </a:xfrm>
        </p:grpSpPr>
        <p:sp>
          <p:nvSpPr>
            <p:cNvPr name="TextBox 38" id="38"/>
            <p:cNvSpPr txBox="true"/>
            <p:nvPr/>
          </p:nvSpPr>
          <p:spPr>
            <a:xfrm rot="0">
              <a:off x="0" y="1107455"/>
              <a:ext cx="4871973" cy="964060"/>
            </a:xfrm>
            <a:prstGeom prst="rect">
              <a:avLst/>
            </a:prstGeom>
          </p:spPr>
          <p:txBody>
            <a:bodyPr anchor="t" rtlCol="false" tIns="0" lIns="0" bIns="0" rIns="0">
              <a:spAutoFit/>
            </a:bodyPr>
            <a:lstStyle/>
            <a:p>
              <a:pPr algn="l" marL="0" indent="0" lvl="1">
                <a:lnSpc>
                  <a:spcPts val="2768"/>
                </a:lnSpc>
                <a:spcBef>
                  <a:spcPct val="0"/>
                </a:spcBef>
              </a:pPr>
              <a:r>
                <a:rPr lang="en-US" b="true" sz="2129">
                  <a:solidFill>
                    <a:srgbClr val="00337D"/>
                  </a:solidFill>
                  <a:latin typeface="Agrandir Bold"/>
                  <a:ea typeface="Agrandir Bold"/>
                  <a:cs typeface="Agrandir Bold"/>
                  <a:sym typeface="Agrandir Bold"/>
                </a:rPr>
                <a:t>Interested in game design and gamification</a:t>
              </a:r>
            </a:p>
          </p:txBody>
        </p:sp>
        <p:sp>
          <p:nvSpPr>
            <p:cNvPr name="TextBox 39" id="39"/>
            <p:cNvSpPr txBox="true"/>
            <p:nvPr/>
          </p:nvSpPr>
          <p:spPr>
            <a:xfrm rot="0">
              <a:off x="0" y="38100"/>
              <a:ext cx="4871973" cy="887085"/>
            </a:xfrm>
            <a:prstGeom prst="rect">
              <a:avLst/>
            </a:prstGeom>
          </p:spPr>
          <p:txBody>
            <a:bodyPr anchor="t" rtlCol="false" tIns="0" lIns="0" bIns="0" rIns="0">
              <a:spAutoFit/>
            </a:bodyPr>
            <a:lstStyle/>
            <a:p>
              <a:pPr algn="l" marL="0" indent="0" lvl="0">
                <a:lnSpc>
                  <a:spcPts val="5024"/>
                </a:lnSpc>
                <a:spcBef>
                  <a:spcPct val="0"/>
                </a:spcBef>
              </a:pPr>
              <a:r>
                <a:rPr lang="en-US" sz="4567">
                  <a:solidFill>
                    <a:srgbClr val="00337D"/>
                  </a:solidFill>
                  <a:latin typeface="Gulfs Display"/>
                  <a:ea typeface="Gulfs Display"/>
                  <a:cs typeface="Gulfs Display"/>
                  <a:sym typeface="Gulfs Display"/>
                </a:rPr>
                <a:t>Shino Peng</a:t>
              </a:r>
            </a:p>
          </p:txBody>
        </p:sp>
      </p:grpSp>
      <p:sp>
        <p:nvSpPr>
          <p:cNvPr name="TextBox 40" id="40"/>
          <p:cNvSpPr txBox="true"/>
          <p:nvPr/>
        </p:nvSpPr>
        <p:spPr>
          <a:xfrm rot="0">
            <a:off x="12156854" y="7125695"/>
            <a:ext cx="5967647" cy="597535"/>
          </a:xfrm>
          <a:prstGeom prst="rect">
            <a:avLst/>
          </a:prstGeom>
        </p:spPr>
        <p:txBody>
          <a:bodyPr anchor="t" rtlCol="false" tIns="0" lIns="0" bIns="0" rIns="0">
            <a:spAutoFit/>
          </a:bodyPr>
          <a:lstStyle/>
          <a:p>
            <a:pPr algn="l" marL="0" indent="0" lvl="1">
              <a:lnSpc>
                <a:spcPts val="4160"/>
              </a:lnSpc>
              <a:spcBef>
                <a:spcPct val="0"/>
              </a:spcBef>
            </a:pPr>
            <a:r>
              <a:rPr lang="en-US" b="true" sz="3200">
                <a:solidFill>
                  <a:srgbClr val="00337D"/>
                </a:solidFill>
                <a:latin typeface="Agrandir Medium"/>
                <a:ea typeface="Agrandir Medium"/>
                <a:cs typeface="Agrandir Medium"/>
                <a:sym typeface="Agrandir Medium"/>
              </a:rPr>
              <a:t>UI &amp; Visual Design</a:t>
            </a:r>
          </a:p>
        </p:txBody>
      </p:sp>
      <p:sp>
        <p:nvSpPr>
          <p:cNvPr name="TextBox 41" id="41"/>
          <p:cNvSpPr txBox="true"/>
          <p:nvPr/>
        </p:nvSpPr>
        <p:spPr>
          <a:xfrm rot="0">
            <a:off x="12156854" y="8561429"/>
            <a:ext cx="5967647" cy="1121410"/>
          </a:xfrm>
          <a:prstGeom prst="rect">
            <a:avLst/>
          </a:prstGeom>
        </p:spPr>
        <p:txBody>
          <a:bodyPr anchor="t" rtlCol="false" tIns="0" lIns="0" bIns="0" rIns="0">
            <a:spAutoFit/>
          </a:bodyPr>
          <a:lstStyle/>
          <a:p>
            <a:pPr algn="l" marL="0" indent="0" lvl="1">
              <a:lnSpc>
                <a:spcPts val="4160"/>
              </a:lnSpc>
              <a:spcBef>
                <a:spcPct val="0"/>
              </a:spcBef>
            </a:pPr>
            <a:r>
              <a:rPr lang="en-US" b="true" sz="3200">
                <a:solidFill>
                  <a:srgbClr val="00337D"/>
                </a:solidFill>
                <a:latin typeface="Agrandir Medium"/>
                <a:ea typeface="Agrandir Medium"/>
                <a:cs typeface="Agrandir Medium"/>
                <a:sym typeface="Agrandir Medium"/>
              </a:rPr>
              <a:t>Team Collaboration &amp; Complementary Skills</a:t>
            </a:r>
          </a:p>
        </p:txBody>
      </p:sp>
      <p:grpSp>
        <p:nvGrpSpPr>
          <p:cNvPr name="Group 42" id="42"/>
          <p:cNvGrpSpPr/>
          <p:nvPr/>
        </p:nvGrpSpPr>
        <p:grpSpPr>
          <a:xfrm rot="0">
            <a:off x="12865746" y="3303621"/>
            <a:ext cx="3653980" cy="1553636"/>
            <a:chOff x="0" y="0"/>
            <a:chExt cx="4871973" cy="2071515"/>
          </a:xfrm>
        </p:grpSpPr>
        <p:sp>
          <p:nvSpPr>
            <p:cNvPr name="TextBox 43" id="43"/>
            <p:cNvSpPr txBox="true"/>
            <p:nvPr/>
          </p:nvSpPr>
          <p:spPr>
            <a:xfrm rot="0">
              <a:off x="0" y="1107455"/>
              <a:ext cx="4871973" cy="964060"/>
            </a:xfrm>
            <a:prstGeom prst="rect">
              <a:avLst/>
            </a:prstGeom>
          </p:spPr>
          <p:txBody>
            <a:bodyPr anchor="t" rtlCol="false" tIns="0" lIns="0" bIns="0" rIns="0">
              <a:spAutoFit/>
            </a:bodyPr>
            <a:lstStyle/>
            <a:p>
              <a:pPr algn="l" marL="0" indent="0" lvl="1">
                <a:lnSpc>
                  <a:spcPts val="2768"/>
                </a:lnSpc>
                <a:spcBef>
                  <a:spcPct val="0"/>
                </a:spcBef>
              </a:pPr>
              <a:r>
                <a:rPr lang="en-US" b="true" sz="2129">
                  <a:solidFill>
                    <a:srgbClr val="00337D"/>
                  </a:solidFill>
                  <a:latin typeface="Agrandir Bold"/>
                  <a:ea typeface="Agrandir Bold"/>
                  <a:cs typeface="Agrandir Bold"/>
                  <a:sym typeface="Agrandir Bold"/>
                </a:rPr>
                <a:t>Graffiti painting and design</a:t>
              </a:r>
            </a:p>
          </p:txBody>
        </p:sp>
        <p:sp>
          <p:nvSpPr>
            <p:cNvPr name="TextBox 44" id="44"/>
            <p:cNvSpPr txBox="true"/>
            <p:nvPr/>
          </p:nvSpPr>
          <p:spPr>
            <a:xfrm rot="0">
              <a:off x="0" y="38100"/>
              <a:ext cx="4871973" cy="887085"/>
            </a:xfrm>
            <a:prstGeom prst="rect">
              <a:avLst/>
            </a:prstGeom>
          </p:spPr>
          <p:txBody>
            <a:bodyPr anchor="t" rtlCol="false" tIns="0" lIns="0" bIns="0" rIns="0">
              <a:spAutoFit/>
            </a:bodyPr>
            <a:lstStyle/>
            <a:p>
              <a:pPr algn="l" marL="0" indent="0" lvl="0">
                <a:lnSpc>
                  <a:spcPts val="5024"/>
                </a:lnSpc>
                <a:spcBef>
                  <a:spcPct val="0"/>
                </a:spcBef>
              </a:pPr>
              <a:r>
                <a:rPr lang="en-US" sz="4567">
                  <a:solidFill>
                    <a:srgbClr val="00337D"/>
                  </a:solidFill>
                  <a:latin typeface="Gulfs Display"/>
                  <a:ea typeface="Gulfs Display"/>
                  <a:cs typeface="Gulfs Display"/>
                  <a:sym typeface="Gulfs Display"/>
                </a:rPr>
                <a:t>Chen Li</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2D60"/>
        </a:solidFill>
      </p:bgPr>
    </p:bg>
    <p:spTree>
      <p:nvGrpSpPr>
        <p:cNvPr id="1" name=""/>
        <p:cNvGrpSpPr/>
        <p:nvPr/>
      </p:nvGrpSpPr>
      <p:grpSpPr>
        <a:xfrm>
          <a:off x="0" y="0"/>
          <a:ext cx="0" cy="0"/>
          <a:chOff x="0" y="0"/>
          <a:chExt cx="0" cy="0"/>
        </a:xfrm>
      </p:grpSpPr>
      <p:sp>
        <p:nvSpPr>
          <p:cNvPr name="Freeform 2" id="2"/>
          <p:cNvSpPr/>
          <p:nvPr/>
        </p:nvSpPr>
        <p:spPr>
          <a:xfrm flipH="false" flipV="false" rot="0">
            <a:off x="13888042" y="4873"/>
            <a:ext cx="4399958" cy="4408106"/>
          </a:xfrm>
          <a:custGeom>
            <a:avLst/>
            <a:gdLst/>
            <a:ahLst/>
            <a:cxnLst/>
            <a:rect r="r" b="b" t="t" l="l"/>
            <a:pathLst>
              <a:path h="4408106" w="4399958">
                <a:moveTo>
                  <a:pt x="0" y="0"/>
                </a:moveTo>
                <a:lnTo>
                  <a:pt x="4399958" y="0"/>
                </a:lnTo>
                <a:lnTo>
                  <a:pt x="4399958" y="4408106"/>
                </a:lnTo>
                <a:lnTo>
                  <a:pt x="0" y="4408106"/>
                </a:lnTo>
                <a:lnTo>
                  <a:pt x="0" y="0"/>
                </a:lnTo>
                <a:close/>
              </a:path>
            </a:pathLst>
          </a:custGeom>
          <a:blipFill>
            <a:blip r:embed="rId3"/>
            <a:stretch>
              <a:fillRect l="0" t="0" r="0" b="0"/>
            </a:stretch>
          </a:blipFill>
        </p:spPr>
      </p:sp>
      <p:sp>
        <p:nvSpPr>
          <p:cNvPr name="Freeform 3" id="3"/>
          <p:cNvSpPr/>
          <p:nvPr/>
        </p:nvSpPr>
        <p:spPr>
          <a:xfrm flipH="false" flipV="false" rot="0">
            <a:off x="12625172" y="6039879"/>
            <a:ext cx="5662828" cy="4247121"/>
          </a:xfrm>
          <a:custGeom>
            <a:avLst/>
            <a:gdLst/>
            <a:ahLst/>
            <a:cxnLst/>
            <a:rect r="r" b="b" t="t" l="l"/>
            <a:pathLst>
              <a:path h="4247121" w="5662828">
                <a:moveTo>
                  <a:pt x="0" y="0"/>
                </a:moveTo>
                <a:lnTo>
                  <a:pt x="5662828" y="0"/>
                </a:lnTo>
                <a:lnTo>
                  <a:pt x="5662828" y="4247121"/>
                </a:lnTo>
                <a:lnTo>
                  <a:pt x="0" y="4247121"/>
                </a:lnTo>
                <a:lnTo>
                  <a:pt x="0" y="0"/>
                </a:lnTo>
                <a:close/>
              </a:path>
            </a:pathLst>
          </a:custGeom>
          <a:blipFill>
            <a:blip r:embed="rId4"/>
            <a:stretch>
              <a:fillRect l="0" t="0" r="0" b="0"/>
            </a:stretch>
          </a:blipFill>
        </p:spPr>
      </p:sp>
      <p:sp>
        <p:nvSpPr>
          <p:cNvPr name="TextBox 4" id="4"/>
          <p:cNvSpPr txBox="true"/>
          <p:nvPr/>
        </p:nvSpPr>
        <p:spPr>
          <a:xfrm rot="0">
            <a:off x="1028700" y="952500"/>
            <a:ext cx="4577624" cy="776478"/>
          </a:xfrm>
          <a:prstGeom prst="rect">
            <a:avLst/>
          </a:prstGeom>
        </p:spPr>
        <p:txBody>
          <a:bodyPr anchor="t" rtlCol="false" tIns="0" lIns="0" bIns="0" rIns="0">
            <a:spAutoFit/>
          </a:bodyPr>
          <a:lstStyle/>
          <a:p>
            <a:pPr algn="l" marL="0" indent="0" lvl="0">
              <a:lnSpc>
                <a:spcPts val="5841"/>
              </a:lnSpc>
            </a:pPr>
            <a:r>
              <a:rPr lang="en-US" sz="5900">
                <a:solidFill>
                  <a:srgbClr val="FFFFFF"/>
                </a:solidFill>
                <a:latin typeface="Gulfs Display"/>
                <a:ea typeface="Gulfs Display"/>
                <a:cs typeface="Gulfs Display"/>
                <a:sym typeface="Gulfs Display"/>
              </a:rPr>
              <a:t>DOMAIN</a:t>
            </a:r>
          </a:p>
        </p:txBody>
      </p:sp>
      <p:sp>
        <p:nvSpPr>
          <p:cNvPr name="TextBox 5" id="5"/>
          <p:cNvSpPr txBox="true"/>
          <p:nvPr/>
        </p:nvSpPr>
        <p:spPr>
          <a:xfrm rot="0">
            <a:off x="977174" y="2731409"/>
            <a:ext cx="2490138" cy="679449"/>
          </a:xfrm>
          <a:prstGeom prst="rect">
            <a:avLst/>
          </a:prstGeom>
        </p:spPr>
        <p:txBody>
          <a:bodyPr anchor="t" rtlCol="false" tIns="0" lIns="0" bIns="0" rIns="0">
            <a:spAutoFit/>
          </a:bodyPr>
          <a:lstStyle/>
          <a:p>
            <a:pPr algn="ctr">
              <a:lnSpc>
                <a:spcPts val="5600"/>
              </a:lnSpc>
            </a:pPr>
            <a:r>
              <a:rPr lang="en-US" sz="4000" b="true">
                <a:solidFill>
                  <a:srgbClr val="FFFFFF"/>
                </a:solidFill>
                <a:latin typeface="Noto Sans T Chinese Bold"/>
                <a:ea typeface="Noto Sans T Chinese Bold"/>
                <a:cs typeface="Noto Sans T Chinese Bold"/>
                <a:sym typeface="Noto Sans T Chinese Bold"/>
              </a:rPr>
              <a:t>Definition</a:t>
            </a:r>
          </a:p>
        </p:txBody>
      </p:sp>
      <p:sp>
        <p:nvSpPr>
          <p:cNvPr name="TextBox 6" id="6"/>
          <p:cNvSpPr txBox="true"/>
          <p:nvPr/>
        </p:nvSpPr>
        <p:spPr>
          <a:xfrm rot="0">
            <a:off x="1028700" y="1614678"/>
            <a:ext cx="8756485" cy="597535"/>
          </a:xfrm>
          <a:prstGeom prst="rect">
            <a:avLst/>
          </a:prstGeom>
        </p:spPr>
        <p:txBody>
          <a:bodyPr anchor="t" rtlCol="false" tIns="0" lIns="0" bIns="0" rIns="0">
            <a:spAutoFit/>
          </a:bodyPr>
          <a:lstStyle/>
          <a:p>
            <a:pPr algn="l" marL="0" indent="0" lvl="1">
              <a:lnSpc>
                <a:spcPts val="4160"/>
              </a:lnSpc>
              <a:spcBef>
                <a:spcPct val="0"/>
              </a:spcBef>
            </a:pPr>
            <a:r>
              <a:rPr lang="en-US" sz="3200">
                <a:solidFill>
                  <a:srgbClr val="FFFFFF"/>
                </a:solidFill>
                <a:latin typeface="Agrandir"/>
                <a:ea typeface="Agrandir"/>
                <a:cs typeface="Agrandir"/>
                <a:sym typeface="Agrandir"/>
              </a:rPr>
              <a:t>Social creation of digital</a:t>
            </a:r>
            <a:r>
              <a:rPr lang="en-US" sz="3200" strike="noStrike" u="none">
                <a:solidFill>
                  <a:srgbClr val="FFFFFF"/>
                </a:solidFill>
                <a:latin typeface="Agrandir"/>
                <a:ea typeface="Agrandir"/>
                <a:cs typeface="Agrandir"/>
                <a:sym typeface="Agrandir"/>
              </a:rPr>
              <a:t> </a:t>
            </a:r>
            <a:r>
              <a:rPr lang="en-US" sz="3200" strike="noStrike" u="none">
                <a:solidFill>
                  <a:srgbClr val="FFFFFF"/>
                </a:solidFill>
                <a:latin typeface="Agrandir"/>
                <a:ea typeface="Agrandir"/>
                <a:cs typeface="Agrandir"/>
                <a:sym typeface="Agrandir"/>
              </a:rPr>
              <a:t>art</a:t>
            </a:r>
            <a:r>
              <a:rPr lang="en-US" sz="3200" strike="noStrike" u="none">
                <a:solidFill>
                  <a:srgbClr val="FFFFFF"/>
                </a:solidFill>
                <a:latin typeface="Agrandir"/>
                <a:ea typeface="Agrandir"/>
                <a:cs typeface="Agrandir"/>
                <a:sym typeface="Agrandir"/>
              </a:rPr>
              <a:t> i</a:t>
            </a:r>
            <a:r>
              <a:rPr lang="en-US" sz="3200" strike="noStrike" u="none">
                <a:solidFill>
                  <a:srgbClr val="FFFFFF"/>
                </a:solidFill>
                <a:latin typeface="Agrandir"/>
                <a:ea typeface="Agrandir"/>
                <a:cs typeface="Agrandir"/>
                <a:sym typeface="Agrandir"/>
              </a:rPr>
              <a:t>n p</a:t>
            </a:r>
            <a:r>
              <a:rPr lang="en-US" sz="3200" strike="noStrike" u="none">
                <a:solidFill>
                  <a:srgbClr val="FFFFFF"/>
                </a:solidFill>
                <a:latin typeface="Agrandir"/>
                <a:ea typeface="Agrandir"/>
                <a:cs typeface="Agrandir"/>
                <a:sym typeface="Agrandir"/>
              </a:rPr>
              <a:t>u</a:t>
            </a:r>
            <a:r>
              <a:rPr lang="en-US" sz="3200" strike="noStrike" u="none">
                <a:solidFill>
                  <a:srgbClr val="FFFFFF"/>
                </a:solidFill>
                <a:latin typeface="Agrandir"/>
                <a:ea typeface="Agrandir"/>
                <a:cs typeface="Agrandir"/>
                <a:sym typeface="Agrandir"/>
              </a:rPr>
              <a:t>b</a:t>
            </a:r>
            <a:r>
              <a:rPr lang="en-US" sz="3200" strike="noStrike" u="none">
                <a:solidFill>
                  <a:srgbClr val="FFFFFF"/>
                </a:solidFill>
                <a:latin typeface="Agrandir"/>
                <a:ea typeface="Agrandir"/>
                <a:cs typeface="Agrandir"/>
                <a:sym typeface="Agrandir"/>
              </a:rPr>
              <a:t>l</a:t>
            </a:r>
            <a:r>
              <a:rPr lang="en-US" sz="3200" strike="noStrike" u="none">
                <a:solidFill>
                  <a:srgbClr val="FFFFFF"/>
                </a:solidFill>
                <a:latin typeface="Agrandir"/>
                <a:ea typeface="Agrandir"/>
                <a:cs typeface="Agrandir"/>
                <a:sym typeface="Agrandir"/>
              </a:rPr>
              <a:t>ic</a:t>
            </a:r>
            <a:r>
              <a:rPr lang="en-US" sz="3200" strike="noStrike" u="none">
                <a:solidFill>
                  <a:srgbClr val="FFFFFF"/>
                </a:solidFill>
                <a:latin typeface="Agrandir"/>
                <a:ea typeface="Agrandir"/>
                <a:cs typeface="Agrandir"/>
                <a:sym typeface="Agrandir"/>
              </a:rPr>
              <a:t> </a:t>
            </a:r>
            <a:r>
              <a:rPr lang="en-US" sz="3200" strike="noStrike" u="none">
                <a:solidFill>
                  <a:srgbClr val="FFFFFF"/>
                </a:solidFill>
                <a:latin typeface="Agrandir"/>
                <a:ea typeface="Agrandir"/>
                <a:cs typeface="Agrandir"/>
                <a:sym typeface="Agrandir"/>
              </a:rPr>
              <a:t>spac</a:t>
            </a:r>
            <a:r>
              <a:rPr lang="en-US" sz="3200" strike="noStrike" u="none">
                <a:solidFill>
                  <a:srgbClr val="FFFFFF"/>
                </a:solidFill>
                <a:latin typeface="Agrandir"/>
                <a:ea typeface="Agrandir"/>
                <a:cs typeface="Agrandir"/>
                <a:sym typeface="Agrandir"/>
              </a:rPr>
              <a:t>es</a:t>
            </a:r>
          </a:p>
        </p:txBody>
      </p:sp>
      <p:sp>
        <p:nvSpPr>
          <p:cNvPr name="TextBox 7" id="7"/>
          <p:cNvSpPr txBox="true"/>
          <p:nvPr/>
        </p:nvSpPr>
        <p:spPr>
          <a:xfrm rot="0">
            <a:off x="1038225" y="3531611"/>
            <a:ext cx="12613070" cy="2316304"/>
          </a:xfrm>
          <a:prstGeom prst="rect">
            <a:avLst/>
          </a:prstGeom>
        </p:spPr>
        <p:txBody>
          <a:bodyPr anchor="t" rtlCol="false" tIns="0" lIns="0" bIns="0" rIns="0">
            <a:spAutoFit/>
          </a:bodyPr>
          <a:lstStyle/>
          <a:p>
            <a:pPr algn="l">
              <a:lnSpc>
                <a:spcPts val="3687"/>
              </a:lnSpc>
            </a:pPr>
            <a:r>
              <a:rPr lang="en-US" sz="2633">
                <a:solidFill>
                  <a:srgbClr val="FFFFFF"/>
                </a:solidFill>
                <a:latin typeface="Noto Sans T Chinese"/>
                <a:ea typeface="Noto Sans T Chinese"/>
                <a:cs typeface="Noto Sans T Chinese"/>
                <a:sym typeface="Noto Sans T Chinese"/>
              </a:rPr>
              <a:t>It is a combination of technology and art creation in public areas.</a:t>
            </a:r>
          </a:p>
          <a:p>
            <a:pPr algn="l">
              <a:lnSpc>
                <a:spcPts val="3687"/>
              </a:lnSpc>
            </a:pPr>
            <a:r>
              <a:rPr lang="en-US" sz="2633">
                <a:solidFill>
                  <a:srgbClr val="FFFFFF"/>
                </a:solidFill>
                <a:latin typeface="Noto Sans T Chinese"/>
                <a:ea typeface="Noto Sans T Chinese"/>
                <a:cs typeface="Noto Sans T Chinese"/>
                <a:sym typeface="Noto Sans T Chinese"/>
              </a:rPr>
              <a:t>This allows interaction with digital artworks in the community.</a:t>
            </a:r>
          </a:p>
          <a:p>
            <a:pPr algn="l">
              <a:lnSpc>
                <a:spcPts val="3687"/>
              </a:lnSpc>
            </a:pPr>
            <a:r>
              <a:rPr lang="en-US" sz="2633">
                <a:solidFill>
                  <a:srgbClr val="FFFFFF"/>
                </a:solidFill>
                <a:latin typeface="Noto Sans T Chinese"/>
                <a:ea typeface="Noto Sans T Chinese"/>
                <a:cs typeface="Noto Sans T Chinese"/>
                <a:sym typeface="Noto Sans T Chinese"/>
              </a:rPr>
              <a:t>Encouraging diversive participation.</a:t>
            </a:r>
          </a:p>
          <a:p>
            <a:pPr algn="l">
              <a:lnSpc>
                <a:spcPts val="3687"/>
              </a:lnSpc>
            </a:pPr>
            <a:r>
              <a:rPr lang="en-US" sz="2633">
                <a:solidFill>
                  <a:srgbClr val="FFFFFF"/>
                </a:solidFill>
                <a:latin typeface="Noto Sans T Chinese"/>
                <a:ea typeface="Noto Sans T Chinese"/>
                <a:cs typeface="Noto Sans T Chinese"/>
                <a:sym typeface="Noto Sans T Chinese"/>
              </a:rPr>
              <a:t>Enhances community engagement and belonging.</a:t>
            </a:r>
          </a:p>
          <a:p>
            <a:pPr algn="l" marL="0" indent="0" lvl="0">
              <a:lnSpc>
                <a:spcPts val="3687"/>
              </a:lnSpc>
              <a:spcBef>
                <a:spcPct val="0"/>
              </a:spcBef>
            </a:pPr>
            <a:r>
              <a:rPr lang="en-US" sz="2633">
                <a:solidFill>
                  <a:srgbClr val="FFFFFF"/>
                </a:solidFill>
                <a:latin typeface="Noto Sans T Chinese"/>
                <a:ea typeface="Noto Sans T Chinese"/>
                <a:cs typeface="Noto Sans T Chinese"/>
                <a:sym typeface="Noto Sans T Chinese"/>
              </a:rPr>
              <a:t>   </a:t>
            </a:r>
          </a:p>
        </p:txBody>
      </p:sp>
      <p:sp>
        <p:nvSpPr>
          <p:cNvPr name="TextBox 8" id="8"/>
          <p:cNvSpPr txBox="true"/>
          <p:nvPr/>
        </p:nvSpPr>
        <p:spPr>
          <a:xfrm rot="0">
            <a:off x="1038225" y="5771878"/>
            <a:ext cx="4897041" cy="679449"/>
          </a:xfrm>
          <a:prstGeom prst="rect">
            <a:avLst/>
          </a:prstGeom>
        </p:spPr>
        <p:txBody>
          <a:bodyPr anchor="t" rtlCol="false" tIns="0" lIns="0" bIns="0" rIns="0">
            <a:spAutoFit/>
          </a:bodyPr>
          <a:lstStyle/>
          <a:p>
            <a:pPr algn="l">
              <a:lnSpc>
                <a:spcPts val="5600"/>
              </a:lnSpc>
            </a:pPr>
            <a:r>
              <a:rPr lang="en-US" sz="4000" b="true">
                <a:solidFill>
                  <a:srgbClr val="FFFFFF"/>
                </a:solidFill>
                <a:latin typeface="Noto Sans T Chinese Bold"/>
                <a:ea typeface="Noto Sans T Chinese Bold"/>
                <a:cs typeface="Noto Sans T Chinese Bold"/>
                <a:sym typeface="Noto Sans T Chinese Bold"/>
              </a:rPr>
              <a:t>Potential problems </a:t>
            </a:r>
          </a:p>
        </p:txBody>
      </p:sp>
      <p:sp>
        <p:nvSpPr>
          <p:cNvPr name="TextBox 9" id="9"/>
          <p:cNvSpPr txBox="true"/>
          <p:nvPr/>
        </p:nvSpPr>
        <p:spPr>
          <a:xfrm rot="0">
            <a:off x="1038225" y="6575153"/>
            <a:ext cx="12613070" cy="1849188"/>
          </a:xfrm>
          <a:prstGeom prst="rect">
            <a:avLst/>
          </a:prstGeom>
        </p:spPr>
        <p:txBody>
          <a:bodyPr anchor="t" rtlCol="false" tIns="0" lIns="0" bIns="0" rIns="0">
            <a:spAutoFit/>
          </a:bodyPr>
          <a:lstStyle/>
          <a:p>
            <a:pPr algn="l">
              <a:lnSpc>
                <a:spcPts val="3687"/>
              </a:lnSpc>
            </a:pPr>
            <a:r>
              <a:rPr lang="en-US" sz="2633">
                <a:solidFill>
                  <a:srgbClr val="FFFFFF"/>
                </a:solidFill>
                <a:latin typeface="Noto Sans T Chinese"/>
                <a:ea typeface="Noto Sans T Chinese"/>
                <a:cs typeface="Noto Sans T Chinese"/>
                <a:sym typeface="Noto Sans T Chinese"/>
              </a:rPr>
              <a:t>Limited butget for the maintenance of large scale of outdoor hardware.</a:t>
            </a:r>
          </a:p>
          <a:p>
            <a:pPr algn="l">
              <a:lnSpc>
                <a:spcPts val="3687"/>
              </a:lnSpc>
            </a:pPr>
            <a:r>
              <a:rPr lang="en-US" sz="2633">
                <a:solidFill>
                  <a:srgbClr val="FFFFFF"/>
                </a:solidFill>
                <a:latin typeface="Noto Sans T Chinese"/>
                <a:ea typeface="Noto Sans T Chinese"/>
                <a:cs typeface="Noto Sans T Chinese"/>
                <a:sym typeface="Noto Sans T Chinese"/>
              </a:rPr>
              <a:t>Need to address respect of the local traditions</a:t>
            </a:r>
          </a:p>
          <a:p>
            <a:pPr algn="l">
              <a:lnSpc>
                <a:spcPts val="3687"/>
              </a:lnSpc>
            </a:pPr>
            <a:r>
              <a:rPr lang="en-US" sz="2633">
                <a:solidFill>
                  <a:srgbClr val="FFFFFF"/>
                </a:solidFill>
                <a:latin typeface="Noto Sans T Chinese"/>
                <a:ea typeface="Noto Sans T Chinese"/>
                <a:cs typeface="Noto Sans T Chinese"/>
                <a:sym typeface="Noto Sans T Chinese"/>
              </a:rPr>
              <a:t>Encourage and attract particpants to take part in</a:t>
            </a:r>
          </a:p>
          <a:p>
            <a:pPr algn="l" marL="0" indent="0" lvl="0">
              <a:lnSpc>
                <a:spcPts val="3687"/>
              </a:lnSpc>
              <a:spcBef>
                <a:spcPct val="0"/>
              </a:spcBef>
            </a:pP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2D60"/>
        </a:solidFill>
      </p:bgPr>
    </p:bg>
    <p:spTree>
      <p:nvGrpSpPr>
        <p:cNvPr id="1" name=""/>
        <p:cNvGrpSpPr/>
        <p:nvPr/>
      </p:nvGrpSpPr>
      <p:grpSpPr>
        <a:xfrm>
          <a:off x="0" y="0"/>
          <a:ext cx="0" cy="0"/>
          <a:chOff x="0" y="0"/>
          <a:chExt cx="0" cy="0"/>
        </a:xfrm>
      </p:grpSpPr>
      <p:sp>
        <p:nvSpPr>
          <p:cNvPr name="Freeform 2" id="2"/>
          <p:cNvSpPr/>
          <p:nvPr/>
        </p:nvSpPr>
        <p:spPr>
          <a:xfrm flipH="false" flipV="false" rot="0">
            <a:off x="-284090" y="-497174"/>
            <a:ext cx="11770378" cy="10679949"/>
          </a:xfrm>
          <a:custGeom>
            <a:avLst/>
            <a:gdLst/>
            <a:ahLst/>
            <a:cxnLst/>
            <a:rect r="r" b="b" t="t" l="l"/>
            <a:pathLst>
              <a:path h="10679949" w="11770378">
                <a:moveTo>
                  <a:pt x="0" y="0"/>
                </a:moveTo>
                <a:lnTo>
                  <a:pt x="11770378" y="0"/>
                </a:lnTo>
                <a:lnTo>
                  <a:pt x="11770378" y="10679949"/>
                </a:lnTo>
                <a:lnTo>
                  <a:pt x="0" y="10679949"/>
                </a:lnTo>
                <a:lnTo>
                  <a:pt x="0" y="0"/>
                </a:lnTo>
                <a:close/>
              </a:path>
            </a:pathLst>
          </a:custGeom>
          <a:blipFill>
            <a:blip r:embed="rId3"/>
            <a:stretch>
              <a:fillRect l="-12947" t="-1783" r="-35577" b="-59246"/>
            </a:stretch>
          </a:blipFill>
        </p:spPr>
      </p:sp>
      <p:grpSp>
        <p:nvGrpSpPr>
          <p:cNvPr name="Group 3" id="3"/>
          <p:cNvGrpSpPr/>
          <p:nvPr/>
        </p:nvGrpSpPr>
        <p:grpSpPr>
          <a:xfrm rot="0">
            <a:off x="11486288" y="0"/>
            <a:ext cx="6801712" cy="4475004"/>
            <a:chOff x="0" y="0"/>
            <a:chExt cx="9068949" cy="5966671"/>
          </a:xfrm>
        </p:grpSpPr>
        <p:pic>
          <p:nvPicPr>
            <p:cNvPr name="Picture 4" id="4"/>
            <p:cNvPicPr>
              <a:picLocks noChangeAspect="true"/>
            </p:cNvPicPr>
            <p:nvPr/>
          </p:nvPicPr>
          <p:blipFill>
            <a:blip r:embed="rId4"/>
            <a:srcRect l="0" t="438" r="0" b="438"/>
            <a:stretch>
              <a:fillRect/>
            </a:stretch>
          </p:blipFill>
          <p:spPr>
            <a:xfrm flipH="false" flipV="false">
              <a:off x="0" y="0"/>
              <a:ext cx="9068949" cy="5966671"/>
            </a:xfrm>
            <a:prstGeom prst="rect">
              <a:avLst/>
            </a:prstGeom>
          </p:spPr>
        </p:pic>
      </p:grpSp>
      <p:grpSp>
        <p:nvGrpSpPr>
          <p:cNvPr name="Group 5" id="5"/>
          <p:cNvGrpSpPr/>
          <p:nvPr/>
        </p:nvGrpSpPr>
        <p:grpSpPr>
          <a:xfrm rot="0">
            <a:off x="1028700" y="315776"/>
            <a:ext cx="9733915" cy="7674249"/>
            <a:chOff x="0" y="0"/>
            <a:chExt cx="12978553" cy="10232332"/>
          </a:xfrm>
        </p:grpSpPr>
        <p:sp>
          <p:nvSpPr>
            <p:cNvPr name="TextBox 6" id="6"/>
            <p:cNvSpPr txBox="true"/>
            <p:nvPr/>
          </p:nvSpPr>
          <p:spPr>
            <a:xfrm rot="0">
              <a:off x="0" y="1583632"/>
              <a:ext cx="12978553" cy="8648699"/>
            </a:xfrm>
            <a:prstGeom prst="rect">
              <a:avLst/>
            </a:prstGeom>
          </p:spPr>
          <p:txBody>
            <a:bodyPr anchor="t" rtlCol="false" tIns="0" lIns="0" bIns="0" rIns="0">
              <a:spAutoFit/>
            </a:bodyPr>
            <a:lstStyle/>
            <a:p>
              <a:pPr algn="l">
                <a:lnSpc>
                  <a:spcPts val="3900"/>
                </a:lnSpc>
              </a:pPr>
              <a:r>
                <a:rPr lang="en-US" sz="3000" b="true">
                  <a:solidFill>
                    <a:srgbClr val="FFFFFF"/>
                  </a:solidFill>
                  <a:latin typeface="Agrandir Bold"/>
                  <a:ea typeface="Agrandir Bold"/>
                  <a:cs typeface="Agrandir Bold"/>
                  <a:sym typeface="Agrandir Bold"/>
                </a:rPr>
                <a:t>Based on Engaging Public Spaces: Designing for a Playful Live Community Experience (Hamid et al., 2024)</a:t>
              </a:r>
            </a:p>
            <a:p>
              <a:pPr algn="l">
                <a:lnSpc>
                  <a:spcPts val="3900"/>
                </a:lnSpc>
              </a:pPr>
            </a:p>
            <a:p>
              <a:pPr algn="l">
                <a:lnSpc>
                  <a:spcPts val="3900"/>
                </a:lnSpc>
              </a:pPr>
              <a:r>
                <a:rPr lang="en-US" sz="3000" b="true">
                  <a:solidFill>
                    <a:srgbClr val="FFFFFF"/>
                  </a:solidFill>
                  <a:latin typeface="Agrandir Bold"/>
                  <a:ea typeface="Agrandir Bold"/>
                  <a:cs typeface="Agrandir Bold"/>
                  <a:sym typeface="Agrandir Bold"/>
                </a:rPr>
                <a:t>Opportunity</a:t>
              </a:r>
            </a:p>
            <a:p>
              <a:pPr algn="l" marL="647708" indent="-323854" lvl="1">
                <a:lnSpc>
                  <a:spcPts val="3900"/>
                </a:lnSpc>
                <a:buFont typeface="Arial"/>
                <a:buChar char="•"/>
              </a:pPr>
              <a:r>
                <a:rPr lang="en-US" sz="3000">
                  <a:solidFill>
                    <a:srgbClr val="FFFFFF"/>
                  </a:solidFill>
                  <a:latin typeface="Agrandir"/>
                  <a:ea typeface="Agrandir"/>
                  <a:cs typeface="Agrandir"/>
                  <a:sym typeface="Agrandir"/>
                </a:rPr>
                <a:t>P</a:t>
              </a:r>
              <a:r>
                <a:rPr lang="en-US" b="true" sz="3000">
                  <a:solidFill>
                    <a:srgbClr val="FFFFFF"/>
                  </a:solidFill>
                  <a:latin typeface="Agrandir Bold"/>
                  <a:ea typeface="Agrandir Bold"/>
                  <a:cs typeface="Agrandir Bold"/>
                  <a:sym typeface="Agrandir Bold"/>
                </a:rPr>
                <a:t>rovide a safe, legal, and low-barrier platform for public expression</a:t>
              </a:r>
            </a:p>
            <a:p>
              <a:pPr algn="l" marL="647708" indent="-323854" lvl="1">
                <a:lnSpc>
                  <a:spcPts val="3900"/>
                </a:lnSpc>
                <a:buFont typeface="Arial"/>
                <a:buChar char="•"/>
              </a:pPr>
              <a:r>
                <a:rPr lang="en-US" b="true" sz="3000">
                  <a:solidFill>
                    <a:srgbClr val="FFFFFF"/>
                  </a:solidFill>
                  <a:latin typeface="Agrandir Bold"/>
                  <a:ea typeface="Agrandir Bold"/>
                  <a:cs typeface="Agrandir Bold"/>
                  <a:sym typeface="Agrandir Bold"/>
                </a:rPr>
                <a:t>Transform graffiti into a digital, playful, and interactive experience</a:t>
              </a:r>
            </a:p>
            <a:p>
              <a:pPr algn="l" marL="647708" indent="-323854" lvl="1">
                <a:lnSpc>
                  <a:spcPts val="3900"/>
                </a:lnSpc>
                <a:buFont typeface="Arial"/>
                <a:buChar char="•"/>
              </a:pPr>
              <a:r>
                <a:rPr lang="en-US" b="true" sz="3000">
                  <a:solidFill>
                    <a:srgbClr val="FFFFFF"/>
                  </a:solidFill>
                  <a:latin typeface="Agrandir Bold"/>
                  <a:ea typeface="Agrandir Bold"/>
                  <a:cs typeface="Agrandir Bold"/>
                  <a:sym typeface="Agrandir Bold"/>
                </a:rPr>
                <a:t>Enable instant social interaction: artworks overlap, compete, and fade</a:t>
              </a:r>
            </a:p>
            <a:p>
              <a:pPr algn="l" marL="647708" indent="-323854" lvl="1">
                <a:lnSpc>
                  <a:spcPts val="3900"/>
                </a:lnSpc>
                <a:buFont typeface="Arial"/>
                <a:buChar char="•"/>
              </a:pPr>
              <a:r>
                <a:rPr lang="en-US" b="true" sz="3000">
                  <a:solidFill>
                    <a:srgbClr val="FFFFFF"/>
                  </a:solidFill>
                  <a:latin typeface="Agrandir Bold"/>
                  <a:ea typeface="Agrandir Bold"/>
                  <a:cs typeface="Agrandir Bold"/>
                  <a:sym typeface="Agrandir Bold"/>
                </a:rPr>
                <a:t>Strengthen community identity &amp; belonging through co-creation</a:t>
              </a:r>
            </a:p>
          </p:txBody>
        </p:sp>
        <p:sp>
          <p:nvSpPr>
            <p:cNvPr name="TextBox 7" id="7"/>
            <p:cNvSpPr txBox="true"/>
            <p:nvPr/>
          </p:nvSpPr>
          <p:spPr>
            <a:xfrm rot="0">
              <a:off x="0" y="66675"/>
              <a:ext cx="12978553" cy="1249892"/>
            </a:xfrm>
            <a:prstGeom prst="rect">
              <a:avLst/>
            </a:prstGeom>
          </p:spPr>
          <p:txBody>
            <a:bodyPr anchor="t" rtlCol="false" tIns="0" lIns="0" bIns="0" rIns="0">
              <a:spAutoFit/>
            </a:bodyPr>
            <a:lstStyle/>
            <a:p>
              <a:pPr algn="l" marL="0" indent="0" lvl="0">
                <a:lnSpc>
                  <a:spcPts val="7150"/>
                </a:lnSpc>
                <a:spcBef>
                  <a:spcPct val="0"/>
                </a:spcBef>
              </a:pPr>
              <a:r>
                <a:rPr lang="en-US" sz="6500">
                  <a:solidFill>
                    <a:srgbClr val="FFFFFF"/>
                  </a:solidFill>
                  <a:latin typeface="Gulfs Display"/>
                  <a:ea typeface="Gulfs Display"/>
                  <a:cs typeface="Gulfs Display"/>
                  <a:sym typeface="Gulfs Display"/>
                </a:rPr>
                <a:t>Inspi</a:t>
              </a:r>
              <a:r>
                <a:rPr lang="en-US" sz="6500">
                  <a:solidFill>
                    <a:srgbClr val="FFFFFF"/>
                  </a:solidFill>
                  <a:latin typeface="Gulfs Display"/>
                  <a:ea typeface="Gulfs Display"/>
                  <a:cs typeface="Gulfs Display"/>
                  <a:sym typeface="Gulfs Display"/>
                </a:rPr>
                <a:t>ration</a:t>
              </a:r>
            </a:p>
          </p:txBody>
        </p:sp>
      </p:grpSp>
      <p:sp>
        <p:nvSpPr>
          <p:cNvPr name="TextBox 8" id="8"/>
          <p:cNvSpPr txBox="true"/>
          <p:nvPr/>
        </p:nvSpPr>
        <p:spPr>
          <a:xfrm rot="0">
            <a:off x="11486288" y="5434885"/>
            <a:ext cx="6676137" cy="4044950"/>
          </a:xfrm>
          <a:prstGeom prst="rect">
            <a:avLst/>
          </a:prstGeom>
        </p:spPr>
        <p:txBody>
          <a:bodyPr anchor="t" rtlCol="false" tIns="0" lIns="0" bIns="0" rIns="0">
            <a:spAutoFit/>
          </a:bodyPr>
          <a:lstStyle/>
          <a:p>
            <a:pPr algn="ctr">
              <a:lnSpc>
                <a:spcPts val="5199"/>
              </a:lnSpc>
              <a:spcBef>
                <a:spcPct val="0"/>
              </a:spcBef>
            </a:pPr>
            <a:r>
              <a:rPr lang="en-US" b="true" sz="3999">
                <a:solidFill>
                  <a:srgbClr val="FB8102"/>
                </a:solidFill>
                <a:latin typeface="Agrandir Medium"/>
                <a:ea typeface="Agrandir Medium"/>
                <a:cs typeface="Agrandir Medium"/>
                <a:sym typeface="Agrandir Medium"/>
              </a:rPr>
              <a:t>Transf</a:t>
            </a:r>
            <a:r>
              <a:rPr lang="en-US" b="true" sz="3999">
                <a:solidFill>
                  <a:srgbClr val="FB8102"/>
                </a:solidFill>
                <a:latin typeface="Agrandir Medium"/>
                <a:ea typeface="Agrandir Medium"/>
                <a:cs typeface="Agrandir Medium"/>
                <a:sym typeface="Agrandir Medium"/>
              </a:rPr>
              <a:t>orm urban public spaces into inclusive, playful, and creative platforms where citizens can freely express, interact, and co-create.</a:t>
            </a:r>
          </a:p>
        </p:txBody>
      </p:sp>
    </p:spTree>
  </p:cSld>
  <p:clrMapOvr>
    <a:masterClrMapping/>
  </p:clrMapOvr>
  <p:transition spd="fast">
    <p:circl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grpSp>
        <p:nvGrpSpPr>
          <p:cNvPr name="Group 2" id="2"/>
          <p:cNvGrpSpPr/>
          <p:nvPr/>
        </p:nvGrpSpPr>
        <p:grpSpPr>
          <a:xfrm rot="0">
            <a:off x="12722592" y="-12858"/>
            <a:ext cx="5565408" cy="10299858"/>
            <a:chOff x="0" y="0"/>
            <a:chExt cx="5464889" cy="10113828"/>
          </a:xfrm>
        </p:grpSpPr>
        <p:sp>
          <p:nvSpPr>
            <p:cNvPr name="Freeform 3" id="3"/>
            <p:cNvSpPr/>
            <p:nvPr/>
          </p:nvSpPr>
          <p:spPr>
            <a:xfrm flipH="false" flipV="false" rot="0">
              <a:off x="-2794" y="-127"/>
              <a:ext cx="5467683" cy="10113955"/>
            </a:xfrm>
            <a:custGeom>
              <a:avLst/>
              <a:gdLst/>
              <a:ahLst/>
              <a:cxnLst/>
              <a:rect r="r" b="b" t="t" l="l"/>
              <a:pathLst>
                <a:path h="10113955" w="5467683">
                  <a:moveTo>
                    <a:pt x="5467683" y="10079117"/>
                  </a:moveTo>
                  <a:cubicBezTo>
                    <a:pt x="5467683" y="10111707"/>
                    <a:pt x="5460907" y="10113955"/>
                    <a:pt x="5443239" y="10113955"/>
                  </a:cubicBezTo>
                  <a:cubicBezTo>
                    <a:pt x="3630000" y="10113331"/>
                    <a:pt x="1816841" y="10113331"/>
                    <a:pt x="3601" y="10113331"/>
                  </a:cubicBezTo>
                  <a:cubicBezTo>
                    <a:pt x="0" y="10099721"/>
                    <a:pt x="5053" y="10087358"/>
                    <a:pt x="6908" y="10074748"/>
                  </a:cubicBezTo>
                  <a:cubicBezTo>
                    <a:pt x="86611" y="9522593"/>
                    <a:pt x="166395" y="8970564"/>
                    <a:pt x="246340" y="8418536"/>
                  </a:cubicBezTo>
                  <a:cubicBezTo>
                    <a:pt x="360327" y="7631510"/>
                    <a:pt x="474558" y="6844611"/>
                    <a:pt x="588465" y="6057585"/>
                  </a:cubicBezTo>
                  <a:cubicBezTo>
                    <a:pt x="729155" y="5085635"/>
                    <a:pt x="869522" y="4113685"/>
                    <a:pt x="1010132" y="3141859"/>
                  </a:cubicBezTo>
                  <a:cubicBezTo>
                    <a:pt x="1153000" y="2154551"/>
                    <a:pt x="1295949" y="1167367"/>
                    <a:pt x="1439220" y="180183"/>
                  </a:cubicBezTo>
                  <a:cubicBezTo>
                    <a:pt x="1447933" y="120122"/>
                    <a:pt x="1453499" y="58689"/>
                    <a:pt x="1467616" y="627"/>
                  </a:cubicBezTo>
                  <a:cubicBezTo>
                    <a:pt x="2792878" y="627"/>
                    <a:pt x="4118140" y="627"/>
                    <a:pt x="5443401" y="0"/>
                  </a:cubicBezTo>
                  <a:cubicBezTo>
                    <a:pt x="5461391" y="0"/>
                    <a:pt x="5467521" y="3374"/>
                    <a:pt x="5467521" y="35214"/>
                  </a:cubicBezTo>
                  <a:cubicBezTo>
                    <a:pt x="5467038" y="3383224"/>
                    <a:pt x="5467038" y="6731233"/>
                    <a:pt x="5467683" y="10079117"/>
                  </a:cubicBezTo>
                  <a:close/>
                </a:path>
              </a:pathLst>
            </a:custGeom>
            <a:blipFill>
              <a:blip r:embed="rId3"/>
              <a:stretch>
                <a:fillRect l="-141372" t="-1" r="-87624" b="-1"/>
              </a:stretch>
            </a:blipFill>
          </p:spPr>
        </p:sp>
      </p:grpSp>
      <p:sp>
        <p:nvSpPr>
          <p:cNvPr name="TextBox 4" id="4"/>
          <p:cNvSpPr txBox="true"/>
          <p:nvPr/>
        </p:nvSpPr>
        <p:spPr>
          <a:xfrm rot="0">
            <a:off x="1732671" y="54607"/>
            <a:ext cx="8115300" cy="1368423"/>
          </a:xfrm>
          <a:prstGeom prst="rect">
            <a:avLst/>
          </a:prstGeom>
        </p:spPr>
        <p:txBody>
          <a:bodyPr anchor="t" rtlCol="false" tIns="0" lIns="0" bIns="0" rIns="0">
            <a:spAutoFit/>
          </a:bodyPr>
          <a:lstStyle/>
          <a:p>
            <a:pPr algn="ctr" marL="0" indent="0" lvl="0">
              <a:lnSpc>
                <a:spcPts val="10449"/>
              </a:lnSpc>
              <a:spcBef>
                <a:spcPct val="0"/>
              </a:spcBef>
            </a:pPr>
            <a:r>
              <a:rPr lang="en-US" sz="9499" strike="noStrike" u="none">
                <a:solidFill>
                  <a:srgbClr val="040606"/>
                </a:solidFill>
                <a:latin typeface="Gulfs Display"/>
                <a:ea typeface="Gulfs Display"/>
                <a:cs typeface="Gulfs Display"/>
                <a:sym typeface="Gulfs Display"/>
              </a:rPr>
              <a:t>Audience</a:t>
            </a:r>
          </a:p>
        </p:txBody>
      </p:sp>
      <p:sp>
        <p:nvSpPr>
          <p:cNvPr name="Freeform 5" id="5"/>
          <p:cNvSpPr/>
          <p:nvPr/>
        </p:nvSpPr>
        <p:spPr>
          <a:xfrm flipH="false" flipV="false" rot="7733017">
            <a:off x="2278699" y="1692010"/>
            <a:ext cx="1473236" cy="1050381"/>
          </a:xfrm>
          <a:custGeom>
            <a:avLst/>
            <a:gdLst/>
            <a:ahLst/>
            <a:cxnLst/>
            <a:rect r="r" b="b" t="t" l="l"/>
            <a:pathLst>
              <a:path h="1050381" w="1473236">
                <a:moveTo>
                  <a:pt x="0" y="0"/>
                </a:moveTo>
                <a:lnTo>
                  <a:pt x="1473237" y="0"/>
                </a:lnTo>
                <a:lnTo>
                  <a:pt x="1473237" y="1050381"/>
                </a:lnTo>
                <a:lnTo>
                  <a:pt x="0" y="10503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96849">
            <a:off x="5011484" y="1661909"/>
            <a:ext cx="1557675" cy="1110583"/>
          </a:xfrm>
          <a:custGeom>
            <a:avLst/>
            <a:gdLst/>
            <a:ahLst/>
            <a:cxnLst/>
            <a:rect r="r" b="b" t="t" l="l"/>
            <a:pathLst>
              <a:path h="1110583" w="1557675">
                <a:moveTo>
                  <a:pt x="0" y="0"/>
                </a:moveTo>
                <a:lnTo>
                  <a:pt x="1557675" y="0"/>
                </a:lnTo>
                <a:lnTo>
                  <a:pt x="1557675" y="1110583"/>
                </a:lnTo>
                <a:lnTo>
                  <a:pt x="0" y="11105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366078">
            <a:off x="7620839" y="1510564"/>
            <a:ext cx="1658954" cy="1182793"/>
          </a:xfrm>
          <a:custGeom>
            <a:avLst/>
            <a:gdLst/>
            <a:ahLst/>
            <a:cxnLst/>
            <a:rect r="r" b="b" t="t" l="l"/>
            <a:pathLst>
              <a:path h="1182793" w="1658954">
                <a:moveTo>
                  <a:pt x="0" y="0"/>
                </a:moveTo>
                <a:lnTo>
                  <a:pt x="1658954" y="0"/>
                </a:lnTo>
                <a:lnTo>
                  <a:pt x="1658954" y="1182793"/>
                </a:lnTo>
                <a:lnTo>
                  <a:pt x="0" y="11827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8" id="8"/>
          <p:cNvGraphicFramePr>
            <a:graphicFrameLocks noGrp="true"/>
          </p:cNvGraphicFramePr>
          <p:nvPr/>
        </p:nvGraphicFramePr>
        <p:xfrm>
          <a:off x="60989" y="4345232"/>
          <a:ext cx="12305755" cy="5941768"/>
        </p:xfrm>
        <a:graphic>
          <a:graphicData uri="http://schemas.openxmlformats.org/drawingml/2006/table">
            <a:tbl>
              <a:tblPr/>
              <a:tblGrid>
                <a:gridCol w="4101918"/>
                <a:gridCol w="4101918"/>
                <a:gridCol w="4101918"/>
              </a:tblGrid>
              <a:tr h="1263456">
                <a:tc>
                  <a:txBody>
                    <a:bodyPr anchor="t" rtlCol="false"/>
                    <a:lstStyle/>
                    <a:p>
                      <a:pPr algn="ctr">
                        <a:lnSpc>
                          <a:spcPts val="3359"/>
                        </a:lnSpc>
                        <a:defRPr/>
                      </a:pPr>
                      <a:r>
                        <a:rPr lang="en-US" sz="2400">
                          <a:solidFill>
                            <a:srgbClr val="000000"/>
                          </a:solidFill>
                          <a:latin typeface="Cre Happiness"/>
                          <a:ea typeface="Cre Happiness"/>
                          <a:cs typeface="Cre Happiness"/>
                          <a:sym typeface="Cre Happiness"/>
                        </a:rPr>
                        <a:t>Existing Attempts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Cre Happiness"/>
                          <a:ea typeface="Cre Happiness"/>
                          <a:cs typeface="Cre Happiness"/>
                          <a:sym typeface="Cre Happiness"/>
                        </a:rPr>
                        <a:t>Limitations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Cre Happiness"/>
                          <a:ea typeface="Cre Happiness"/>
                          <a:cs typeface="Cre Happiness"/>
                          <a:sym typeface="Cre Happiness"/>
                        </a:rPr>
                        <a:t>Our System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84608">
                <a:tc>
                  <a:txBody>
                    <a:bodyPr anchor="t" rtlCol="false"/>
                    <a:lstStyle/>
                    <a:p>
                      <a:pPr algn="ctr">
                        <a:lnSpc>
                          <a:spcPts val="3359"/>
                        </a:lnSpc>
                        <a:defRPr/>
                      </a:pPr>
                      <a:r>
                        <a:rPr lang="en-US" sz="2400">
                          <a:solidFill>
                            <a:srgbClr val="000000"/>
                          </a:solidFill>
                          <a:latin typeface="M Young PRC Medium"/>
                          <a:ea typeface="M Young PRC Medium"/>
                          <a:cs typeface="M Young PRC Medium"/>
                          <a:sym typeface="M Young PRC Medium"/>
                        </a:rPr>
                        <a:t>Traditional graffiti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M Young PRC Medium"/>
                          <a:ea typeface="M Young PRC Medium"/>
                          <a:cs typeface="M Young PRC Medium"/>
                          <a:sym typeface="M Young PRC Medium"/>
                        </a:rPr>
                        <a:t>Expression vs. Regulation conflict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M Young PRC Medium"/>
                          <a:ea typeface="M Young PRC Medium"/>
                          <a:cs typeface="M Young PRC Medium"/>
                          <a:sym typeface="M Young PRC Medium"/>
                        </a:rPr>
                        <a:t>Safe &amp; legitimate expression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65414">
                <a:tc>
                  <a:txBody>
                    <a:bodyPr anchor="t" rtlCol="false"/>
                    <a:lstStyle/>
                    <a:p>
                      <a:pPr algn="ctr">
                        <a:lnSpc>
                          <a:spcPts val="3359"/>
                        </a:lnSpc>
                        <a:defRPr/>
                      </a:pPr>
                      <a:r>
                        <a:rPr lang="en-US" sz="2400">
                          <a:solidFill>
                            <a:srgbClr val="000000"/>
                          </a:solidFill>
                          <a:latin typeface="M Young PRC Medium"/>
                          <a:ea typeface="M Young PRC Medium"/>
                          <a:cs typeface="M Young PRC Medium"/>
                          <a:sym typeface="M Young PRC Medium"/>
                        </a:rPr>
                        <a:t>Digital installations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M Young PRC Medium"/>
                          <a:ea typeface="M Young PRC Medium"/>
                          <a:cs typeface="M Young PRC Medium"/>
                          <a:sym typeface="M Young PRC Medium"/>
                        </a:rPr>
                        <a:t>Interaction but no collaboration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M Young PRC Medium"/>
                          <a:ea typeface="M Young PRC Medium"/>
                          <a:cs typeface="M Young PRC Medium"/>
                          <a:sym typeface="M Young PRC Medium"/>
                        </a:rPr>
                        <a:t>Real-time co-creation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728290">
                <a:tc>
                  <a:txBody>
                    <a:bodyPr anchor="t" rtlCol="false"/>
                    <a:lstStyle/>
                    <a:p>
                      <a:pPr algn="ctr">
                        <a:lnSpc>
                          <a:spcPts val="3359"/>
                        </a:lnSpc>
                        <a:defRPr/>
                      </a:pPr>
                      <a:r>
                        <a:rPr lang="en-US" sz="2400">
                          <a:solidFill>
                            <a:srgbClr val="000000"/>
                          </a:solidFill>
                          <a:latin typeface="M Young PRC Medium"/>
                          <a:ea typeface="M Young PRC Medium"/>
                          <a:cs typeface="M Young PRC Medium"/>
                          <a:sym typeface="M Young PRC Medium"/>
                        </a:rPr>
                        <a:t>Public art projects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M Young PRC Medium"/>
                          <a:ea typeface="M Young PRC Medium"/>
                          <a:cs typeface="M Young PRC Medium"/>
                          <a:sym typeface="M Young PRC Medium"/>
                        </a:rPr>
                        <a:t>Often curated, less spontaneous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M Young PRC Medium"/>
                          <a:ea typeface="M Young PRC Medium"/>
                          <a:cs typeface="M Young PRC Medium"/>
                          <a:sym typeface="M Young PRC Medium"/>
                        </a:rPr>
                        <a:t>Open, playful, inclusive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9" id="9"/>
          <p:cNvSpPr txBox="true"/>
          <p:nvPr/>
        </p:nvSpPr>
        <p:spPr>
          <a:xfrm rot="0">
            <a:off x="1563423" y="2973271"/>
            <a:ext cx="2283384" cy="521335"/>
          </a:xfrm>
          <a:prstGeom prst="rect">
            <a:avLst/>
          </a:prstGeom>
        </p:spPr>
        <p:txBody>
          <a:bodyPr anchor="t" rtlCol="false" tIns="0" lIns="0" bIns="0" rIns="0">
            <a:spAutoFit/>
          </a:bodyPr>
          <a:lstStyle/>
          <a:p>
            <a:pPr algn="ctr">
              <a:lnSpc>
                <a:spcPts val="4160"/>
              </a:lnSpc>
              <a:spcBef>
                <a:spcPct val="0"/>
              </a:spcBef>
            </a:pPr>
            <a:r>
              <a:rPr lang="en-US" sz="3200">
                <a:solidFill>
                  <a:srgbClr val="040606"/>
                </a:solidFill>
                <a:latin typeface="M Young PRC Medium"/>
                <a:ea typeface="M Young PRC Medium"/>
                <a:cs typeface="M Young PRC Medium"/>
                <a:sym typeface="M Young PRC Medium"/>
              </a:rPr>
              <a:t>Passersby</a:t>
            </a:r>
          </a:p>
        </p:txBody>
      </p:sp>
      <p:sp>
        <p:nvSpPr>
          <p:cNvPr name="TextBox 10" id="10"/>
          <p:cNvSpPr txBox="true"/>
          <p:nvPr/>
        </p:nvSpPr>
        <p:spPr>
          <a:xfrm rot="0">
            <a:off x="4288185" y="2973271"/>
            <a:ext cx="3032773" cy="521335"/>
          </a:xfrm>
          <a:prstGeom prst="rect">
            <a:avLst/>
          </a:prstGeom>
        </p:spPr>
        <p:txBody>
          <a:bodyPr anchor="t" rtlCol="false" tIns="0" lIns="0" bIns="0" rIns="0">
            <a:spAutoFit/>
          </a:bodyPr>
          <a:lstStyle/>
          <a:p>
            <a:pPr algn="ctr">
              <a:lnSpc>
                <a:spcPts val="4160"/>
              </a:lnSpc>
              <a:spcBef>
                <a:spcPct val="0"/>
              </a:spcBef>
            </a:pPr>
            <a:r>
              <a:rPr lang="en-US" sz="3200">
                <a:solidFill>
                  <a:srgbClr val="000000"/>
                </a:solidFill>
                <a:latin typeface="M Young PRC Medium"/>
                <a:ea typeface="M Young PRC Medium"/>
                <a:cs typeface="M Young PRC Medium"/>
                <a:sym typeface="M Young PRC Medium"/>
              </a:rPr>
              <a:t>Students</a:t>
            </a:r>
          </a:p>
        </p:txBody>
      </p:sp>
      <p:sp>
        <p:nvSpPr>
          <p:cNvPr name="TextBox 11" id="11"/>
          <p:cNvSpPr txBox="true"/>
          <p:nvPr/>
        </p:nvSpPr>
        <p:spPr>
          <a:xfrm rot="0">
            <a:off x="8267061" y="2973271"/>
            <a:ext cx="1775966" cy="521335"/>
          </a:xfrm>
          <a:prstGeom prst="rect">
            <a:avLst/>
          </a:prstGeom>
        </p:spPr>
        <p:txBody>
          <a:bodyPr anchor="t" rtlCol="false" tIns="0" lIns="0" bIns="0" rIns="0">
            <a:spAutoFit/>
          </a:bodyPr>
          <a:lstStyle/>
          <a:p>
            <a:pPr algn="ctr">
              <a:lnSpc>
                <a:spcPts val="4160"/>
              </a:lnSpc>
              <a:spcBef>
                <a:spcPct val="0"/>
              </a:spcBef>
            </a:pPr>
            <a:r>
              <a:rPr lang="en-US" sz="3200">
                <a:solidFill>
                  <a:srgbClr val="000000"/>
                </a:solidFill>
                <a:latin typeface="M Young PRC Medium"/>
                <a:ea typeface="M Young PRC Medium"/>
                <a:cs typeface="M Young PRC Medium"/>
                <a:sym typeface="M Young PRC Medium"/>
              </a:rPr>
              <a:t>Residents</a:t>
            </a:r>
          </a:p>
        </p:txBody>
      </p:sp>
      <p:sp>
        <p:nvSpPr>
          <p:cNvPr name="TextBox 12" id="12"/>
          <p:cNvSpPr txBox="true"/>
          <p:nvPr/>
        </p:nvSpPr>
        <p:spPr>
          <a:xfrm rot="0">
            <a:off x="759520" y="3692452"/>
            <a:ext cx="3223320" cy="424179"/>
          </a:xfrm>
          <a:prstGeom prst="rect">
            <a:avLst/>
          </a:prstGeom>
        </p:spPr>
        <p:txBody>
          <a:bodyPr anchor="t" rtlCol="false" tIns="0" lIns="0" bIns="0" rIns="0">
            <a:spAutoFit/>
          </a:bodyPr>
          <a:lstStyle/>
          <a:p>
            <a:pPr algn="ctr">
              <a:lnSpc>
                <a:spcPts val="3380"/>
              </a:lnSpc>
              <a:spcBef>
                <a:spcPct val="0"/>
              </a:spcBef>
            </a:pPr>
            <a:r>
              <a:rPr lang="en-US" sz="2600">
                <a:solidFill>
                  <a:srgbClr val="000000"/>
                </a:solidFill>
                <a:latin typeface="M Young PRC Medium"/>
                <a:ea typeface="M Young PRC Medium"/>
                <a:cs typeface="M Young PRC Medium"/>
                <a:sym typeface="M Young PRC Medium"/>
              </a:rPr>
              <a:t>Spontaneous, Curious</a:t>
            </a:r>
          </a:p>
        </p:txBody>
      </p:sp>
      <p:sp>
        <p:nvSpPr>
          <p:cNvPr name="TextBox 13" id="13"/>
          <p:cNvSpPr txBox="true"/>
          <p:nvPr/>
        </p:nvSpPr>
        <p:spPr>
          <a:xfrm rot="0">
            <a:off x="4549286" y="3692452"/>
            <a:ext cx="2738586" cy="424179"/>
          </a:xfrm>
          <a:prstGeom prst="rect">
            <a:avLst/>
          </a:prstGeom>
        </p:spPr>
        <p:txBody>
          <a:bodyPr anchor="t" rtlCol="false" tIns="0" lIns="0" bIns="0" rIns="0">
            <a:spAutoFit/>
          </a:bodyPr>
          <a:lstStyle/>
          <a:p>
            <a:pPr algn="ctr">
              <a:lnSpc>
                <a:spcPts val="3380"/>
              </a:lnSpc>
              <a:spcBef>
                <a:spcPct val="0"/>
              </a:spcBef>
            </a:pPr>
            <a:r>
              <a:rPr lang="en-US" sz="2600">
                <a:solidFill>
                  <a:srgbClr val="000000"/>
                </a:solidFill>
                <a:latin typeface="M Young PRC Medium"/>
                <a:ea typeface="M Young PRC Medium"/>
                <a:cs typeface="M Young PRC Medium"/>
                <a:sym typeface="M Young PRC Medium"/>
              </a:rPr>
              <a:t>Expressive, Social</a:t>
            </a:r>
          </a:p>
        </p:txBody>
      </p:sp>
      <p:sp>
        <p:nvSpPr>
          <p:cNvPr name="TextBox 14" id="14"/>
          <p:cNvSpPr txBox="true"/>
          <p:nvPr/>
        </p:nvSpPr>
        <p:spPr>
          <a:xfrm rot="0">
            <a:off x="7909565" y="3692452"/>
            <a:ext cx="4457179" cy="424179"/>
          </a:xfrm>
          <a:prstGeom prst="rect">
            <a:avLst/>
          </a:prstGeom>
        </p:spPr>
        <p:txBody>
          <a:bodyPr anchor="t" rtlCol="false" tIns="0" lIns="0" bIns="0" rIns="0">
            <a:spAutoFit/>
          </a:bodyPr>
          <a:lstStyle/>
          <a:p>
            <a:pPr algn="ctr">
              <a:lnSpc>
                <a:spcPts val="3380"/>
              </a:lnSpc>
              <a:spcBef>
                <a:spcPct val="0"/>
              </a:spcBef>
            </a:pPr>
            <a:r>
              <a:rPr lang="en-US" sz="2600">
                <a:solidFill>
                  <a:srgbClr val="000000"/>
                </a:solidFill>
                <a:latin typeface="M Young PRC Medium"/>
                <a:ea typeface="M Young PRC Medium"/>
                <a:cs typeface="M Young PRC Medium"/>
                <a:sym typeface="M Young PRC Medium"/>
              </a:rPr>
              <a:t>Community identity, Belonging</a:t>
            </a:r>
          </a:p>
        </p:txBody>
      </p:sp>
      <p:sp>
        <p:nvSpPr>
          <p:cNvPr name="Freeform 15" id="15"/>
          <p:cNvSpPr/>
          <p:nvPr/>
        </p:nvSpPr>
        <p:spPr>
          <a:xfrm flipH="false" flipV="false" rot="900139">
            <a:off x="10746739" y="140768"/>
            <a:ext cx="3240011" cy="3215711"/>
          </a:xfrm>
          <a:custGeom>
            <a:avLst/>
            <a:gdLst/>
            <a:ahLst/>
            <a:cxnLst/>
            <a:rect r="r" b="b" t="t" l="l"/>
            <a:pathLst>
              <a:path h="3215711" w="3240011">
                <a:moveTo>
                  <a:pt x="0" y="0"/>
                </a:moveTo>
                <a:lnTo>
                  <a:pt x="3240010" y="0"/>
                </a:lnTo>
                <a:lnTo>
                  <a:pt x="3240010" y="3215711"/>
                </a:lnTo>
                <a:lnTo>
                  <a:pt x="0" y="3215711"/>
                </a:lnTo>
                <a:lnTo>
                  <a:pt x="0" y="0"/>
                </a:lnTo>
                <a:close/>
              </a:path>
            </a:pathLst>
          </a:custGeom>
          <a:blipFill>
            <a:blip r:embed="rId6"/>
            <a:stretch>
              <a:fillRect l="0" t="0" r="0" b="0"/>
            </a:stretch>
          </a:blipFill>
        </p:spPr>
      </p:sp>
    </p:spTree>
  </p:cSld>
  <p:clrMapOvr>
    <a:masterClrMapping/>
  </p:clrMapOvr>
  <p:transition spd="fast">
    <p:push dir="r"/>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304442" y="-8801660"/>
            <a:ext cx="3679116" cy="19813120"/>
          </a:xfrm>
          <a:custGeom>
            <a:avLst/>
            <a:gdLst/>
            <a:ahLst/>
            <a:cxnLst/>
            <a:rect r="r" b="b" t="t" l="l"/>
            <a:pathLst>
              <a:path h="19813120" w="3679116">
                <a:moveTo>
                  <a:pt x="0" y="0"/>
                </a:moveTo>
                <a:lnTo>
                  <a:pt x="3679116" y="0"/>
                </a:lnTo>
                <a:lnTo>
                  <a:pt x="3679116" y="19813120"/>
                </a:lnTo>
                <a:lnTo>
                  <a:pt x="0" y="19813120"/>
                </a:lnTo>
                <a:lnTo>
                  <a:pt x="0" y="0"/>
                </a:lnTo>
                <a:close/>
              </a:path>
            </a:pathLst>
          </a:custGeom>
          <a:blipFill>
            <a:blip r:embed="rId3"/>
            <a:stretch>
              <a:fillRect l="-111818" t="-9665" r="-190514" b="0"/>
            </a:stretch>
          </a:blipFill>
          <a:ln cap="sq">
            <a:noFill/>
            <a:prstDash val="solid"/>
            <a:miter/>
          </a:ln>
        </p:spPr>
      </p:sp>
      <p:sp>
        <p:nvSpPr>
          <p:cNvPr name="Freeform 3" id="3"/>
          <p:cNvSpPr/>
          <p:nvPr/>
        </p:nvSpPr>
        <p:spPr>
          <a:xfrm flipH="false" flipV="false" rot="399925">
            <a:off x="16319012" y="8364080"/>
            <a:ext cx="2922049" cy="1555991"/>
          </a:xfrm>
          <a:custGeom>
            <a:avLst/>
            <a:gdLst/>
            <a:ahLst/>
            <a:cxnLst/>
            <a:rect r="r" b="b" t="t" l="l"/>
            <a:pathLst>
              <a:path h="1555991" w="2922049">
                <a:moveTo>
                  <a:pt x="0" y="0"/>
                </a:moveTo>
                <a:lnTo>
                  <a:pt x="2922048" y="0"/>
                </a:lnTo>
                <a:lnTo>
                  <a:pt x="2922048" y="1555991"/>
                </a:lnTo>
                <a:lnTo>
                  <a:pt x="0" y="1555991"/>
                </a:lnTo>
                <a:lnTo>
                  <a:pt x="0" y="0"/>
                </a:lnTo>
                <a:close/>
              </a:path>
            </a:pathLst>
          </a:custGeom>
          <a:blipFill>
            <a:blip r:embed="rId4"/>
            <a:stretch>
              <a:fillRect l="0" t="0" r="0" b="0"/>
            </a:stretch>
          </a:blipFill>
        </p:spPr>
      </p:sp>
      <p:grpSp>
        <p:nvGrpSpPr>
          <p:cNvPr name="Group 4" id="4"/>
          <p:cNvGrpSpPr/>
          <p:nvPr/>
        </p:nvGrpSpPr>
        <p:grpSpPr>
          <a:xfrm rot="0">
            <a:off x="1028700" y="3664308"/>
            <a:ext cx="499202" cy="49920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37D"/>
            </a:solidFill>
          </p:spPr>
        </p:sp>
        <p:sp>
          <p:nvSpPr>
            <p:cNvPr name="TextBox 6" id="6"/>
            <p:cNvSpPr txBox="true"/>
            <p:nvPr/>
          </p:nvSpPr>
          <p:spPr>
            <a:xfrm>
              <a:off x="76200" y="-19050"/>
              <a:ext cx="660400" cy="755650"/>
            </a:xfrm>
            <a:prstGeom prst="rect">
              <a:avLst/>
            </a:prstGeom>
          </p:spPr>
          <p:txBody>
            <a:bodyPr anchor="ctr" rtlCol="false" tIns="50800" lIns="50800" bIns="50800" rIns="50800"/>
            <a:lstStyle/>
            <a:p>
              <a:pPr algn="ctr">
                <a:lnSpc>
                  <a:spcPts val="3380"/>
                </a:lnSpc>
              </a:pPr>
            </a:p>
          </p:txBody>
        </p:sp>
      </p:grpSp>
      <p:grpSp>
        <p:nvGrpSpPr>
          <p:cNvPr name="Group 7" id="7"/>
          <p:cNvGrpSpPr/>
          <p:nvPr/>
        </p:nvGrpSpPr>
        <p:grpSpPr>
          <a:xfrm rot="0">
            <a:off x="6551130" y="3717919"/>
            <a:ext cx="499202" cy="49920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37D"/>
            </a:solidFill>
          </p:spPr>
        </p:sp>
        <p:sp>
          <p:nvSpPr>
            <p:cNvPr name="TextBox 9" id="9"/>
            <p:cNvSpPr txBox="true"/>
            <p:nvPr/>
          </p:nvSpPr>
          <p:spPr>
            <a:xfrm>
              <a:off x="76200" y="-19050"/>
              <a:ext cx="660400" cy="755650"/>
            </a:xfrm>
            <a:prstGeom prst="rect">
              <a:avLst/>
            </a:prstGeom>
          </p:spPr>
          <p:txBody>
            <a:bodyPr anchor="ctr" rtlCol="false" tIns="50800" lIns="50800" bIns="50800" rIns="50800"/>
            <a:lstStyle/>
            <a:p>
              <a:pPr algn="ctr">
                <a:lnSpc>
                  <a:spcPts val="3380"/>
                </a:lnSpc>
              </a:pPr>
            </a:p>
          </p:txBody>
        </p:sp>
      </p:grpSp>
      <p:grpSp>
        <p:nvGrpSpPr>
          <p:cNvPr name="Group 10" id="10"/>
          <p:cNvGrpSpPr/>
          <p:nvPr/>
        </p:nvGrpSpPr>
        <p:grpSpPr>
          <a:xfrm rot="0">
            <a:off x="11417980" y="3717919"/>
            <a:ext cx="499202" cy="49920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37D"/>
            </a:solidFill>
          </p:spPr>
        </p:sp>
        <p:sp>
          <p:nvSpPr>
            <p:cNvPr name="TextBox 12" id="12"/>
            <p:cNvSpPr txBox="true"/>
            <p:nvPr/>
          </p:nvSpPr>
          <p:spPr>
            <a:xfrm>
              <a:off x="76200" y="-19050"/>
              <a:ext cx="660400" cy="755650"/>
            </a:xfrm>
            <a:prstGeom prst="rect">
              <a:avLst/>
            </a:prstGeom>
          </p:spPr>
          <p:txBody>
            <a:bodyPr anchor="ctr" rtlCol="false" tIns="50800" lIns="50800" bIns="50800" rIns="50800"/>
            <a:lstStyle/>
            <a:p>
              <a:pPr algn="ctr">
                <a:lnSpc>
                  <a:spcPts val="3380"/>
                </a:lnSpc>
              </a:pPr>
            </a:p>
          </p:txBody>
        </p:sp>
      </p:grpSp>
      <p:sp>
        <p:nvSpPr>
          <p:cNvPr name="Freeform 13" id="13"/>
          <p:cNvSpPr/>
          <p:nvPr/>
        </p:nvSpPr>
        <p:spPr>
          <a:xfrm flipH="false" flipV="false" rot="0">
            <a:off x="1028700" y="4457601"/>
            <a:ext cx="4091610" cy="4091610"/>
          </a:xfrm>
          <a:custGeom>
            <a:avLst/>
            <a:gdLst/>
            <a:ahLst/>
            <a:cxnLst/>
            <a:rect r="r" b="b" t="t" l="l"/>
            <a:pathLst>
              <a:path h="4091610" w="4091610">
                <a:moveTo>
                  <a:pt x="0" y="0"/>
                </a:moveTo>
                <a:lnTo>
                  <a:pt x="4091610" y="0"/>
                </a:lnTo>
                <a:lnTo>
                  <a:pt x="4091610" y="4091610"/>
                </a:lnTo>
                <a:lnTo>
                  <a:pt x="0" y="4091610"/>
                </a:lnTo>
                <a:lnTo>
                  <a:pt x="0" y="0"/>
                </a:lnTo>
                <a:close/>
              </a:path>
            </a:pathLst>
          </a:custGeom>
          <a:blipFill>
            <a:blip r:embed="rId5"/>
            <a:stretch>
              <a:fillRect l="0" t="0" r="0" b="0"/>
            </a:stretch>
          </a:blipFill>
        </p:spPr>
      </p:sp>
      <p:sp>
        <p:nvSpPr>
          <p:cNvPr name="Freeform 14" id="14"/>
          <p:cNvSpPr/>
          <p:nvPr/>
        </p:nvSpPr>
        <p:spPr>
          <a:xfrm flipH="false" flipV="false" rot="0">
            <a:off x="6221196" y="4457601"/>
            <a:ext cx="4091610" cy="4091610"/>
          </a:xfrm>
          <a:custGeom>
            <a:avLst/>
            <a:gdLst/>
            <a:ahLst/>
            <a:cxnLst/>
            <a:rect r="r" b="b" t="t" l="l"/>
            <a:pathLst>
              <a:path h="4091610" w="4091610">
                <a:moveTo>
                  <a:pt x="0" y="0"/>
                </a:moveTo>
                <a:lnTo>
                  <a:pt x="4091610" y="0"/>
                </a:lnTo>
                <a:lnTo>
                  <a:pt x="4091610" y="4091610"/>
                </a:lnTo>
                <a:lnTo>
                  <a:pt x="0" y="4091610"/>
                </a:lnTo>
                <a:lnTo>
                  <a:pt x="0" y="0"/>
                </a:lnTo>
                <a:close/>
              </a:path>
            </a:pathLst>
          </a:custGeom>
          <a:blipFill>
            <a:blip r:embed="rId6"/>
            <a:stretch>
              <a:fillRect l="0" t="0" r="0" b="0"/>
            </a:stretch>
          </a:blipFill>
        </p:spPr>
      </p:sp>
      <p:sp>
        <p:nvSpPr>
          <p:cNvPr name="Freeform 15" id="15"/>
          <p:cNvSpPr/>
          <p:nvPr/>
        </p:nvSpPr>
        <p:spPr>
          <a:xfrm flipH="false" flipV="false" rot="0">
            <a:off x="11417980" y="4784868"/>
            <a:ext cx="6589395" cy="3303849"/>
          </a:xfrm>
          <a:custGeom>
            <a:avLst/>
            <a:gdLst/>
            <a:ahLst/>
            <a:cxnLst/>
            <a:rect r="r" b="b" t="t" l="l"/>
            <a:pathLst>
              <a:path h="3303849" w="6589395">
                <a:moveTo>
                  <a:pt x="0" y="0"/>
                </a:moveTo>
                <a:lnTo>
                  <a:pt x="6589395" y="0"/>
                </a:lnTo>
                <a:lnTo>
                  <a:pt x="6589395" y="3303849"/>
                </a:lnTo>
                <a:lnTo>
                  <a:pt x="0" y="3303849"/>
                </a:lnTo>
                <a:lnTo>
                  <a:pt x="0" y="0"/>
                </a:lnTo>
                <a:close/>
              </a:path>
            </a:pathLst>
          </a:custGeom>
          <a:blipFill>
            <a:blip r:embed="rId7"/>
            <a:stretch>
              <a:fillRect l="0" t="0" r="0" b="0"/>
            </a:stretch>
          </a:blipFill>
        </p:spPr>
      </p:sp>
      <p:sp>
        <p:nvSpPr>
          <p:cNvPr name="TextBox 16" id="16"/>
          <p:cNvSpPr txBox="true"/>
          <p:nvPr/>
        </p:nvSpPr>
        <p:spPr>
          <a:xfrm rot="0">
            <a:off x="1028700" y="970738"/>
            <a:ext cx="16230600" cy="1368423"/>
          </a:xfrm>
          <a:prstGeom prst="rect">
            <a:avLst/>
          </a:prstGeom>
        </p:spPr>
        <p:txBody>
          <a:bodyPr anchor="t" rtlCol="false" tIns="0" lIns="0" bIns="0" rIns="0">
            <a:spAutoFit/>
          </a:bodyPr>
          <a:lstStyle/>
          <a:p>
            <a:pPr algn="ctr" marL="0" indent="0" lvl="0">
              <a:lnSpc>
                <a:spcPts val="10449"/>
              </a:lnSpc>
              <a:spcBef>
                <a:spcPct val="0"/>
              </a:spcBef>
            </a:pPr>
            <a:r>
              <a:rPr lang="en-US" sz="9499">
                <a:solidFill>
                  <a:srgbClr val="FFFFFF"/>
                </a:solidFill>
                <a:latin typeface="Gulfs Display"/>
                <a:ea typeface="Gulfs Display"/>
                <a:cs typeface="Gulfs Display"/>
                <a:sym typeface="Gulfs Display"/>
              </a:rPr>
              <a:t>Research Method</a:t>
            </a:r>
          </a:p>
        </p:txBody>
      </p:sp>
      <p:sp>
        <p:nvSpPr>
          <p:cNvPr name="TextBox 17" id="17"/>
          <p:cNvSpPr txBox="true"/>
          <p:nvPr/>
        </p:nvSpPr>
        <p:spPr>
          <a:xfrm rot="0">
            <a:off x="1661252" y="3502383"/>
            <a:ext cx="3182243" cy="768350"/>
          </a:xfrm>
          <a:prstGeom prst="rect">
            <a:avLst/>
          </a:prstGeom>
        </p:spPr>
        <p:txBody>
          <a:bodyPr anchor="t" rtlCol="false" tIns="0" lIns="0" bIns="0" rIns="0">
            <a:spAutoFit/>
          </a:bodyPr>
          <a:lstStyle/>
          <a:p>
            <a:pPr algn="ctr">
              <a:lnSpc>
                <a:spcPts val="5200"/>
              </a:lnSpc>
              <a:spcBef>
                <a:spcPct val="0"/>
              </a:spcBef>
            </a:pPr>
            <a:r>
              <a:rPr lang="en-US" b="true" sz="4000">
                <a:solidFill>
                  <a:srgbClr val="000000"/>
                </a:solidFill>
                <a:latin typeface="Agrandir Bold"/>
                <a:ea typeface="Agrandir Bold"/>
                <a:cs typeface="Agrandir Bold"/>
                <a:sym typeface="Agrandir Bold"/>
              </a:rPr>
              <a:t>Observation</a:t>
            </a:r>
          </a:p>
        </p:txBody>
      </p:sp>
      <p:sp>
        <p:nvSpPr>
          <p:cNvPr name="TextBox 18" id="18"/>
          <p:cNvSpPr txBox="true"/>
          <p:nvPr/>
        </p:nvSpPr>
        <p:spPr>
          <a:xfrm rot="0">
            <a:off x="7182500" y="3555994"/>
            <a:ext cx="2527846" cy="794385"/>
          </a:xfrm>
          <a:prstGeom prst="rect">
            <a:avLst/>
          </a:prstGeom>
        </p:spPr>
        <p:txBody>
          <a:bodyPr anchor="t" rtlCol="false" tIns="0" lIns="0" bIns="0" rIns="0">
            <a:spAutoFit/>
          </a:bodyPr>
          <a:lstStyle/>
          <a:p>
            <a:pPr algn="ctr">
              <a:lnSpc>
                <a:spcPts val="5460"/>
              </a:lnSpc>
              <a:spcBef>
                <a:spcPct val="0"/>
              </a:spcBef>
            </a:pPr>
            <a:r>
              <a:rPr lang="en-US" b="true" sz="4200">
                <a:solidFill>
                  <a:srgbClr val="000000"/>
                </a:solidFill>
                <a:latin typeface="Agrandir Bold"/>
                <a:ea typeface="Agrandir Bold"/>
                <a:cs typeface="Agrandir Bold"/>
                <a:sym typeface="Agrandir Bold"/>
              </a:rPr>
              <a:t>Interview</a:t>
            </a:r>
          </a:p>
        </p:txBody>
      </p:sp>
      <p:sp>
        <p:nvSpPr>
          <p:cNvPr name="TextBox 19" id="19"/>
          <p:cNvSpPr txBox="true"/>
          <p:nvPr/>
        </p:nvSpPr>
        <p:spPr>
          <a:xfrm rot="0">
            <a:off x="12050532" y="3555994"/>
            <a:ext cx="5862853" cy="768350"/>
          </a:xfrm>
          <a:prstGeom prst="rect">
            <a:avLst/>
          </a:prstGeom>
        </p:spPr>
        <p:txBody>
          <a:bodyPr anchor="t" rtlCol="false" tIns="0" lIns="0" bIns="0" rIns="0">
            <a:spAutoFit/>
          </a:bodyPr>
          <a:lstStyle/>
          <a:p>
            <a:pPr algn="ctr">
              <a:lnSpc>
                <a:spcPts val="5200"/>
              </a:lnSpc>
              <a:spcBef>
                <a:spcPct val="0"/>
              </a:spcBef>
            </a:pPr>
            <a:r>
              <a:rPr lang="en-US" b="true" sz="4000">
                <a:solidFill>
                  <a:srgbClr val="000000"/>
                </a:solidFill>
                <a:latin typeface="Agrandir Bold"/>
                <a:ea typeface="Agrandir Bold"/>
                <a:cs typeface="Agrandir Bold"/>
                <a:sym typeface="Agrandir Bold"/>
              </a:rPr>
              <a:t>Low-fidelity prototype</a:t>
            </a:r>
          </a:p>
        </p:txBody>
      </p:sp>
    </p:spTree>
  </p:cSld>
  <p:clrMapOvr>
    <a:masterClrMapping/>
  </p:clrMapOvr>
  <p:transition spd="fast">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DAGw3LeeCsA</dc:identifier>
  <dcterms:modified xsi:type="dcterms:W3CDTF">2011-08-01T06:04:30Z</dcterms:modified>
  <cp:revision>1</cp:revision>
  <dc:title>TagIt!</dc:title>
</cp:coreProperties>
</file>